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39"/>
  </p:notesMasterIdLst>
  <p:handoutMasterIdLst>
    <p:handoutMasterId r:id="rId40"/>
  </p:handoutMasterIdLst>
  <p:sldIdLst>
    <p:sldId id="256" r:id="rId5"/>
    <p:sldId id="294" r:id="rId6"/>
    <p:sldId id="264" r:id="rId7"/>
    <p:sldId id="291" r:id="rId8"/>
    <p:sldId id="266" r:id="rId9"/>
    <p:sldId id="267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9" r:id="rId24"/>
    <p:sldId id="290" r:id="rId25"/>
    <p:sldId id="265" r:id="rId26"/>
    <p:sldId id="296" r:id="rId27"/>
    <p:sldId id="268" r:id="rId28"/>
    <p:sldId id="282" r:id="rId29"/>
    <p:sldId id="283" r:id="rId30"/>
    <p:sldId id="284" r:id="rId31"/>
    <p:sldId id="285" r:id="rId32"/>
    <p:sldId id="286" r:id="rId33"/>
    <p:sldId id="292" r:id="rId34"/>
    <p:sldId id="293" r:id="rId35"/>
    <p:sldId id="295" r:id="rId36"/>
    <p:sldId id="288" r:id="rId37"/>
    <p:sldId id="260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C90DBC-94E7-6953-40B0-31885001D7CF}" v="121" dt="2025-12-02T04:54:27.477"/>
    <p1510:client id="{5AD28D57-2625-6E10-5FAC-5D3BF0CC3CE9}" v="500" dt="2025-12-02T15:01:28.409"/>
    <p1510:client id="{F37CBA41-E8EF-426C-9685-A9C2C365726D}" v="367" dt="2025-12-02T20:17:50.932"/>
    <p1510:client id="{FEBE03CB-8BBE-43C6-A27B-839B9FD4B87C}" v="844" dt="2025-12-02T19:02:35.4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078A7A-BD0F-4400-8087-6283BCFD79E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B60CD2F-4595-4957-9B6C-A52C7BC03024}">
      <dgm:prSet/>
      <dgm:spPr/>
      <dgm:t>
        <a:bodyPr/>
        <a:lstStyle/>
        <a:p>
          <a:r>
            <a:rPr lang="en-US"/>
            <a:t>This project applies the full data-science workflow using Python and Tableau</a:t>
          </a:r>
        </a:p>
      </dgm:t>
    </dgm:pt>
    <dgm:pt modelId="{E4228AF4-5ABA-48C1-84BA-DF50A50CA830}" type="parTrans" cxnId="{43AAAB86-2752-4C08-9DAB-B682EFEF4EF5}">
      <dgm:prSet/>
      <dgm:spPr/>
      <dgm:t>
        <a:bodyPr/>
        <a:lstStyle/>
        <a:p>
          <a:endParaRPr lang="en-US"/>
        </a:p>
      </dgm:t>
    </dgm:pt>
    <dgm:pt modelId="{B831F292-8EB9-47FC-92DF-8E318C7909EE}" type="sibTrans" cxnId="{43AAAB86-2752-4C08-9DAB-B682EFEF4EF5}">
      <dgm:prSet/>
      <dgm:spPr/>
      <dgm:t>
        <a:bodyPr/>
        <a:lstStyle/>
        <a:p>
          <a:endParaRPr lang="en-US"/>
        </a:p>
      </dgm:t>
    </dgm:pt>
    <dgm:pt modelId="{6FBC8977-41D4-4135-8551-31F7C7A7CC9A}">
      <dgm:prSet/>
      <dgm:spPr/>
      <dgm:t>
        <a:bodyPr/>
        <a:lstStyle/>
        <a:p>
          <a:r>
            <a:rPr lang="en-US"/>
            <a:t>Each group member used their own dataset from CTEC 128 and reproduced the analysis using Python instead of Excel</a:t>
          </a:r>
        </a:p>
      </dgm:t>
    </dgm:pt>
    <dgm:pt modelId="{DA9662CD-4F36-4398-8C84-5D1CC807AC95}" type="parTrans" cxnId="{920630B8-3B96-454F-AC61-02D51212597C}">
      <dgm:prSet/>
      <dgm:spPr/>
      <dgm:t>
        <a:bodyPr/>
        <a:lstStyle/>
        <a:p>
          <a:endParaRPr lang="en-US"/>
        </a:p>
      </dgm:t>
    </dgm:pt>
    <dgm:pt modelId="{9D9E10D6-E912-4C87-9A6D-5D46FB28C1C9}" type="sibTrans" cxnId="{920630B8-3B96-454F-AC61-02D51212597C}">
      <dgm:prSet/>
      <dgm:spPr/>
      <dgm:t>
        <a:bodyPr/>
        <a:lstStyle/>
        <a:p>
          <a:endParaRPr lang="en-US"/>
        </a:p>
      </dgm:t>
    </dgm:pt>
    <dgm:pt modelId="{4D3C605D-16D2-4167-84B2-F9E4074046D2}">
      <dgm:prSet/>
      <dgm:spPr/>
      <dgm:t>
        <a:bodyPr/>
        <a:lstStyle/>
        <a:p>
          <a:r>
            <a:rPr lang="en-US"/>
            <a:t>Our work included loading data, cleaning and transforming datasets, creating six required Python plots, and building two Tableau visualizations</a:t>
          </a:r>
        </a:p>
      </dgm:t>
    </dgm:pt>
    <dgm:pt modelId="{5D6A935F-E31F-49EA-B1D8-AF1C893B3876}" type="parTrans" cxnId="{C3ECE977-B3B6-4291-91A7-20A0A1E50C27}">
      <dgm:prSet/>
      <dgm:spPr/>
      <dgm:t>
        <a:bodyPr/>
        <a:lstStyle/>
        <a:p>
          <a:endParaRPr lang="en-US"/>
        </a:p>
      </dgm:t>
    </dgm:pt>
    <dgm:pt modelId="{DC338057-0920-4B8E-921F-5F236CF1BF12}" type="sibTrans" cxnId="{C3ECE977-B3B6-4291-91A7-20A0A1E50C27}">
      <dgm:prSet/>
      <dgm:spPr/>
      <dgm:t>
        <a:bodyPr/>
        <a:lstStyle/>
        <a:p>
          <a:endParaRPr lang="en-US"/>
        </a:p>
      </dgm:t>
    </dgm:pt>
    <dgm:pt modelId="{7A9BD3BC-ABF7-4235-B035-0898DE51856B}">
      <dgm:prSet/>
      <dgm:spPr/>
      <dgm:t>
        <a:bodyPr/>
        <a:lstStyle/>
        <a:p>
          <a:r>
            <a:rPr lang="en-US"/>
            <a:t>We documented the original datasets, the cleaned datasets, the code used, and the final outputs</a:t>
          </a:r>
        </a:p>
      </dgm:t>
    </dgm:pt>
    <dgm:pt modelId="{7C108911-999C-4AE3-B62A-C0FD39287E09}" type="parTrans" cxnId="{FB9C4D16-C86E-4355-89DC-ACFED79FBD5B}">
      <dgm:prSet/>
      <dgm:spPr/>
      <dgm:t>
        <a:bodyPr/>
        <a:lstStyle/>
        <a:p>
          <a:endParaRPr lang="en-US"/>
        </a:p>
      </dgm:t>
    </dgm:pt>
    <dgm:pt modelId="{B344FDD9-CD9E-4E58-A5E2-E8A09A8A5464}" type="sibTrans" cxnId="{FB9C4D16-C86E-4355-89DC-ACFED79FBD5B}">
      <dgm:prSet/>
      <dgm:spPr/>
      <dgm:t>
        <a:bodyPr/>
        <a:lstStyle/>
        <a:p>
          <a:endParaRPr lang="en-US"/>
        </a:p>
      </dgm:t>
    </dgm:pt>
    <dgm:pt modelId="{16C49484-D9B7-4956-9DEF-49D1BE8A37AD}">
      <dgm:prSet/>
      <dgm:spPr/>
      <dgm:t>
        <a:bodyPr/>
        <a:lstStyle/>
        <a:p>
          <a:r>
            <a:rPr lang="en-US"/>
            <a:t>The goal was to show that the same analytical process can be applied to different data sources</a:t>
          </a:r>
        </a:p>
      </dgm:t>
    </dgm:pt>
    <dgm:pt modelId="{C45D5EA1-442E-408C-A290-8CD6CD6D7E45}" type="parTrans" cxnId="{CAE9483E-D23A-40B7-8C48-2E47797001F8}">
      <dgm:prSet/>
      <dgm:spPr/>
      <dgm:t>
        <a:bodyPr/>
        <a:lstStyle/>
        <a:p>
          <a:endParaRPr lang="en-US"/>
        </a:p>
      </dgm:t>
    </dgm:pt>
    <dgm:pt modelId="{17EF54AD-7092-402F-9371-7CDB4DAC8446}" type="sibTrans" cxnId="{CAE9483E-D23A-40B7-8C48-2E47797001F8}">
      <dgm:prSet/>
      <dgm:spPr/>
      <dgm:t>
        <a:bodyPr/>
        <a:lstStyle/>
        <a:p>
          <a:endParaRPr lang="en-US"/>
        </a:p>
      </dgm:t>
    </dgm:pt>
    <dgm:pt modelId="{8EA4B037-6101-4644-9685-DCA0EE08D112}">
      <dgm:prSet/>
      <dgm:spPr/>
      <dgm:t>
        <a:bodyPr/>
        <a:lstStyle/>
        <a:p>
          <a:r>
            <a:rPr lang="en-US"/>
            <a:t>Demonstrated skills across Python, Jupyter Notebook, Matplotlib, Tableau, GitHub, NumPy, and Pandas</a:t>
          </a:r>
        </a:p>
      </dgm:t>
    </dgm:pt>
    <dgm:pt modelId="{E5505846-29A8-4DC2-BD1A-572E6A7096D5}" type="parTrans" cxnId="{C216625D-71AF-4D7E-AEB9-1F0FC3220237}">
      <dgm:prSet/>
      <dgm:spPr/>
      <dgm:t>
        <a:bodyPr/>
        <a:lstStyle/>
        <a:p>
          <a:endParaRPr lang="en-US"/>
        </a:p>
      </dgm:t>
    </dgm:pt>
    <dgm:pt modelId="{023DDD72-109F-4583-A00A-1D494D0CE0D6}" type="sibTrans" cxnId="{C216625D-71AF-4D7E-AEB9-1F0FC3220237}">
      <dgm:prSet/>
      <dgm:spPr/>
      <dgm:t>
        <a:bodyPr/>
        <a:lstStyle/>
        <a:p>
          <a:endParaRPr lang="en-US"/>
        </a:p>
      </dgm:t>
    </dgm:pt>
    <dgm:pt modelId="{038D0412-AE4C-4070-B918-E6BFA871C8D5}" type="pres">
      <dgm:prSet presAssocID="{BC078A7A-BD0F-4400-8087-6283BCFD79E8}" presName="root" presStyleCnt="0">
        <dgm:presLayoutVars>
          <dgm:dir/>
          <dgm:resizeHandles val="exact"/>
        </dgm:presLayoutVars>
      </dgm:prSet>
      <dgm:spPr/>
    </dgm:pt>
    <dgm:pt modelId="{340247FB-0829-46AC-8E4D-4FE696286F08}" type="pres">
      <dgm:prSet presAssocID="{8B60CD2F-4595-4957-9B6C-A52C7BC03024}" presName="compNode" presStyleCnt="0"/>
      <dgm:spPr/>
    </dgm:pt>
    <dgm:pt modelId="{A8A3541E-3F47-4CCF-8E1F-9CECE5455222}" type="pres">
      <dgm:prSet presAssocID="{8B60CD2F-4595-4957-9B6C-A52C7BC03024}" presName="bgRect" presStyleLbl="bgShp" presStyleIdx="0" presStyleCnt="6"/>
      <dgm:spPr/>
    </dgm:pt>
    <dgm:pt modelId="{C1378271-AC74-444A-BFF5-2441614CC6EE}" type="pres">
      <dgm:prSet presAssocID="{8B60CD2F-4595-4957-9B6C-A52C7BC03024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DBE21294-2FC2-461A-B088-B283FE0756A3}" type="pres">
      <dgm:prSet presAssocID="{8B60CD2F-4595-4957-9B6C-A52C7BC03024}" presName="spaceRect" presStyleCnt="0"/>
      <dgm:spPr/>
    </dgm:pt>
    <dgm:pt modelId="{68C67FB5-9E23-47DB-8D4E-9CC60DC921EE}" type="pres">
      <dgm:prSet presAssocID="{8B60CD2F-4595-4957-9B6C-A52C7BC03024}" presName="parTx" presStyleLbl="revTx" presStyleIdx="0" presStyleCnt="6">
        <dgm:presLayoutVars>
          <dgm:chMax val="0"/>
          <dgm:chPref val="0"/>
        </dgm:presLayoutVars>
      </dgm:prSet>
      <dgm:spPr/>
    </dgm:pt>
    <dgm:pt modelId="{E0CC600A-9956-4B9E-A19B-029ECFF16A1D}" type="pres">
      <dgm:prSet presAssocID="{B831F292-8EB9-47FC-92DF-8E318C7909EE}" presName="sibTrans" presStyleCnt="0"/>
      <dgm:spPr/>
    </dgm:pt>
    <dgm:pt modelId="{AA89DA1B-D320-4C85-88AE-D25655C6EE61}" type="pres">
      <dgm:prSet presAssocID="{6FBC8977-41D4-4135-8551-31F7C7A7CC9A}" presName="compNode" presStyleCnt="0"/>
      <dgm:spPr/>
    </dgm:pt>
    <dgm:pt modelId="{008E3414-5FCE-4B4A-8A37-B1B8390E7E44}" type="pres">
      <dgm:prSet presAssocID="{6FBC8977-41D4-4135-8551-31F7C7A7CC9A}" presName="bgRect" presStyleLbl="bgShp" presStyleIdx="1" presStyleCnt="6"/>
      <dgm:spPr/>
    </dgm:pt>
    <dgm:pt modelId="{7ADEA583-690C-48C7-837D-3F92057DD658}" type="pres">
      <dgm:prSet presAssocID="{6FBC8977-41D4-4135-8551-31F7C7A7CC9A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D39D2CEC-7432-4D57-B18F-DB6A366870F6}" type="pres">
      <dgm:prSet presAssocID="{6FBC8977-41D4-4135-8551-31F7C7A7CC9A}" presName="spaceRect" presStyleCnt="0"/>
      <dgm:spPr/>
    </dgm:pt>
    <dgm:pt modelId="{891E5B5C-6BD0-47B1-9C02-03612C157165}" type="pres">
      <dgm:prSet presAssocID="{6FBC8977-41D4-4135-8551-31F7C7A7CC9A}" presName="parTx" presStyleLbl="revTx" presStyleIdx="1" presStyleCnt="6">
        <dgm:presLayoutVars>
          <dgm:chMax val="0"/>
          <dgm:chPref val="0"/>
        </dgm:presLayoutVars>
      </dgm:prSet>
      <dgm:spPr/>
    </dgm:pt>
    <dgm:pt modelId="{AEB08EE6-FB5C-4F05-B918-066F700A2BF8}" type="pres">
      <dgm:prSet presAssocID="{9D9E10D6-E912-4C87-9A6D-5D46FB28C1C9}" presName="sibTrans" presStyleCnt="0"/>
      <dgm:spPr/>
    </dgm:pt>
    <dgm:pt modelId="{77E098FB-A389-43CB-B7C0-D0FC49CFF7EF}" type="pres">
      <dgm:prSet presAssocID="{4D3C605D-16D2-4167-84B2-F9E4074046D2}" presName="compNode" presStyleCnt="0"/>
      <dgm:spPr/>
    </dgm:pt>
    <dgm:pt modelId="{1FC8B9D5-D861-4B6F-B487-A90C866BA641}" type="pres">
      <dgm:prSet presAssocID="{4D3C605D-16D2-4167-84B2-F9E4074046D2}" presName="bgRect" presStyleLbl="bgShp" presStyleIdx="2" presStyleCnt="6"/>
      <dgm:spPr/>
    </dgm:pt>
    <dgm:pt modelId="{137A444F-D100-4D80-8D9A-444E6942BBB2}" type="pres">
      <dgm:prSet presAssocID="{4D3C605D-16D2-4167-84B2-F9E4074046D2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B6A79646-73BE-44F9-8E47-D8A5CC40B3B8}" type="pres">
      <dgm:prSet presAssocID="{4D3C605D-16D2-4167-84B2-F9E4074046D2}" presName="spaceRect" presStyleCnt="0"/>
      <dgm:spPr/>
    </dgm:pt>
    <dgm:pt modelId="{50651566-00E1-4875-B16F-B4A76003FDE2}" type="pres">
      <dgm:prSet presAssocID="{4D3C605D-16D2-4167-84B2-F9E4074046D2}" presName="parTx" presStyleLbl="revTx" presStyleIdx="2" presStyleCnt="6">
        <dgm:presLayoutVars>
          <dgm:chMax val="0"/>
          <dgm:chPref val="0"/>
        </dgm:presLayoutVars>
      </dgm:prSet>
      <dgm:spPr/>
    </dgm:pt>
    <dgm:pt modelId="{D3542185-AF4A-4AA5-B754-43F6E0154CB6}" type="pres">
      <dgm:prSet presAssocID="{DC338057-0920-4B8E-921F-5F236CF1BF12}" presName="sibTrans" presStyleCnt="0"/>
      <dgm:spPr/>
    </dgm:pt>
    <dgm:pt modelId="{59D51ADA-1B3C-426D-9656-E5B97E4BFFCC}" type="pres">
      <dgm:prSet presAssocID="{7A9BD3BC-ABF7-4235-B035-0898DE51856B}" presName="compNode" presStyleCnt="0"/>
      <dgm:spPr/>
    </dgm:pt>
    <dgm:pt modelId="{00DDF8B5-3175-477D-AC78-5CFE242590C4}" type="pres">
      <dgm:prSet presAssocID="{7A9BD3BC-ABF7-4235-B035-0898DE51856B}" presName="bgRect" presStyleLbl="bgShp" presStyleIdx="3" presStyleCnt="6"/>
      <dgm:spPr/>
    </dgm:pt>
    <dgm:pt modelId="{10E297F3-A0D3-41F1-9265-46190CFD7240}" type="pres">
      <dgm:prSet presAssocID="{7A9BD3BC-ABF7-4235-B035-0898DE51856B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8A9B584-ED04-4DBC-9134-5E92A7713292}" type="pres">
      <dgm:prSet presAssocID="{7A9BD3BC-ABF7-4235-B035-0898DE51856B}" presName="spaceRect" presStyleCnt="0"/>
      <dgm:spPr/>
    </dgm:pt>
    <dgm:pt modelId="{D95B31C2-5350-4613-9DC1-5F70A9B2847A}" type="pres">
      <dgm:prSet presAssocID="{7A9BD3BC-ABF7-4235-B035-0898DE51856B}" presName="parTx" presStyleLbl="revTx" presStyleIdx="3" presStyleCnt="6">
        <dgm:presLayoutVars>
          <dgm:chMax val="0"/>
          <dgm:chPref val="0"/>
        </dgm:presLayoutVars>
      </dgm:prSet>
      <dgm:spPr/>
    </dgm:pt>
    <dgm:pt modelId="{D07B990E-E12A-4B9A-9749-43671A77333F}" type="pres">
      <dgm:prSet presAssocID="{B344FDD9-CD9E-4E58-A5E2-E8A09A8A5464}" presName="sibTrans" presStyleCnt="0"/>
      <dgm:spPr/>
    </dgm:pt>
    <dgm:pt modelId="{4343E475-B0D4-4027-9426-50337602C1FE}" type="pres">
      <dgm:prSet presAssocID="{16C49484-D9B7-4956-9DEF-49D1BE8A37AD}" presName="compNode" presStyleCnt="0"/>
      <dgm:spPr/>
    </dgm:pt>
    <dgm:pt modelId="{E30CC188-3733-4C0A-8735-05554BE143A8}" type="pres">
      <dgm:prSet presAssocID="{16C49484-D9B7-4956-9DEF-49D1BE8A37AD}" presName="bgRect" presStyleLbl="bgShp" presStyleIdx="4" presStyleCnt="6"/>
      <dgm:spPr/>
    </dgm:pt>
    <dgm:pt modelId="{529D2A9C-04E8-484E-953B-E1491A97C733}" type="pres">
      <dgm:prSet presAssocID="{16C49484-D9B7-4956-9DEF-49D1BE8A37AD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E9152F91-E677-4785-9BF3-F63D3B3BB2AA}" type="pres">
      <dgm:prSet presAssocID="{16C49484-D9B7-4956-9DEF-49D1BE8A37AD}" presName="spaceRect" presStyleCnt="0"/>
      <dgm:spPr/>
    </dgm:pt>
    <dgm:pt modelId="{F0888672-399F-48BC-8B57-180F4F449BE3}" type="pres">
      <dgm:prSet presAssocID="{16C49484-D9B7-4956-9DEF-49D1BE8A37AD}" presName="parTx" presStyleLbl="revTx" presStyleIdx="4" presStyleCnt="6">
        <dgm:presLayoutVars>
          <dgm:chMax val="0"/>
          <dgm:chPref val="0"/>
        </dgm:presLayoutVars>
      </dgm:prSet>
      <dgm:spPr/>
    </dgm:pt>
    <dgm:pt modelId="{0558D794-0CC9-4FFF-AB79-C487FAC3A174}" type="pres">
      <dgm:prSet presAssocID="{17EF54AD-7092-402F-9371-7CDB4DAC8446}" presName="sibTrans" presStyleCnt="0"/>
      <dgm:spPr/>
    </dgm:pt>
    <dgm:pt modelId="{222E65E6-EDCC-4006-8C84-E23557F8DDD0}" type="pres">
      <dgm:prSet presAssocID="{8EA4B037-6101-4644-9685-DCA0EE08D112}" presName="compNode" presStyleCnt="0"/>
      <dgm:spPr/>
    </dgm:pt>
    <dgm:pt modelId="{DD052B96-5C2D-46C9-97C6-391A32D74596}" type="pres">
      <dgm:prSet presAssocID="{8EA4B037-6101-4644-9685-DCA0EE08D112}" presName="bgRect" presStyleLbl="bgShp" presStyleIdx="5" presStyleCnt="6"/>
      <dgm:spPr/>
    </dgm:pt>
    <dgm:pt modelId="{25902631-0ABF-4CD2-9F9A-5024501D9454}" type="pres">
      <dgm:prSet presAssocID="{8EA4B037-6101-4644-9685-DCA0EE08D11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3115F8FF-88FA-4D24-A38D-871753C4489D}" type="pres">
      <dgm:prSet presAssocID="{8EA4B037-6101-4644-9685-DCA0EE08D112}" presName="spaceRect" presStyleCnt="0"/>
      <dgm:spPr/>
    </dgm:pt>
    <dgm:pt modelId="{80402162-E3FD-49AB-B397-7F1A67D3B1E3}" type="pres">
      <dgm:prSet presAssocID="{8EA4B037-6101-4644-9685-DCA0EE08D112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FB9C4D16-C86E-4355-89DC-ACFED79FBD5B}" srcId="{BC078A7A-BD0F-4400-8087-6283BCFD79E8}" destId="{7A9BD3BC-ABF7-4235-B035-0898DE51856B}" srcOrd="3" destOrd="0" parTransId="{7C108911-999C-4AE3-B62A-C0FD39287E09}" sibTransId="{B344FDD9-CD9E-4E58-A5E2-E8A09A8A5464}"/>
    <dgm:cxn modelId="{CFDAED3D-04B5-42EE-8B5A-C8C3528FDECE}" type="presOf" srcId="{16C49484-D9B7-4956-9DEF-49D1BE8A37AD}" destId="{F0888672-399F-48BC-8B57-180F4F449BE3}" srcOrd="0" destOrd="0" presId="urn:microsoft.com/office/officeart/2018/2/layout/IconVerticalSolidList"/>
    <dgm:cxn modelId="{CAE9483E-D23A-40B7-8C48-2E47797001F8}" srcId="{BC078A7A-BD0F-4400-8087-6283BCFD79E8}" destId="{16C49484-D9B7-4956-9DEF-49D1BE8A37AD}" srcOrd="4" destOrd="0" parTransId="{C45D5EA1-442E-408C-A290-8CD6CD6D7E45}" sibTransId="{17EF54AD-7092-402F-9371-7CDB4DAC8446}"/>
    <dgm:cxn modelId="{C216625D-71AF-4D7E-AEB9-1F0FC3220237}" srcId="{BC078A7A-BD0F-4400-8087-6283BCFD79E8}" destId="{8EA4B037-6101-4644-9685-DCA0EE08D112}" srcOrd="5" destOrd="0" parTransId="{E5505846-29A8-4DC2-BD1A-572E6A7096D5}" sibTransId="{023DDD72-109F-4583-A00A-1D494D0CE0D6}"/>
    <dgm:cxn modelId="{BFBD6066-E5BD-42DA-8F0B-CE60648258E9}" type="presOf" srcId="{4D3C605D-16D2-4167-84B2-F9E4074046D2}" destId="{50651566-00E1-4875-B16F-B4A76003FDE2}" srcOrd="0" destOrd="0" presId="urn:microsoft.com/office/officeart/2018/2/layout/IconVerticalSolidList"/>
    <dgm:cxn modelId="{BC491870-2960-4A6D-89DC-6DE3966B1485}" type="presOf" srcId="{7A9BD3BC-ABF7-4235-B035-0898DE51856B}" destId="{D95B31C2-5350-4613-9DC1-5F70A9B2847A}" srcOrd="0" destOrd="0" presId="urn:microsoft.com/office/officeart/2018/2/layout/IconVerticalSolidList"/>
    <dgm:cxn modelId="{B2499871-1747-4885-AE25-BDE817CBBFF7}" type="presOf" srcId="{8EA4B037-6101-4644-9685-DCA0EE08D112}" destId="{80402162-E3FD-49AB-B397-7F1A67D3B1E3}" srcOrd="0" destOrd="0" presId="urn:microsoft.com/office/officeart/2018/2/layout/IconVerticalSolidList"/>
    <dgm:cxn modelId="{C3ECE977-B3B6-4291-91A7-20A0A1E50C27}" srcId="{BC078A7A-BD0F-4400-8087-6283BCFD79E8}" destId="{4D3C605D-16D2-4167-84B2-F9E4074046D2}" srcOrd="2" destOrd="0" parTransId="{5D6A935F-E31F-49EA-B1D8-AF1C893B3876}" sibTransId="{DC338057-0920-4B8E-921F-5F236CF1BF12}"/>
    <dgm:cxn modelId="{5CDB3259-4328-4CBE-926F-8CAAEC4B137A}" type="presOf" srcId="{8B60CD2F-4595-4957-9B6C-A52C7BC03024}" destId="{68C67FB5-9E23-47DB-8D4E-9CC60DC921EE}" srcOrd="0" destOrd="0" presId="urn:microsoft.com/office/officeart/2018/2/layout/IconVerticalSolidList"/>
    <dgm:cxn modelId="{43AAAB86-2752-4C08-9DAB-B682EFEF4EF5}" srcId="{BC078A7A-BD0F-4400-8087-6283BCFD79E8}" destId="{8B60CD2F-4595-4957-9B6C-A52C7BC03024}" srcOrd="0" destOrd="0" parTransId="{E4228AF4-5ABA-48C1-84BA-DF50A50CA830}" sibTransId="{B831F292-8EB9-47FC-92DF-8E318C7909EE}"/>
    <dgm:cxn modelId="{C8A03088-A600-4F96-81CD-A29D89C5E6B6}" type="presOf" srcId="{BC078A7A-BD0F-4400-8087-6283BCFD79E8}" destId="{038D0412-AE4C-4070-B918-E6BFA871C8D5}" srcOrd="0" destOrd="0" presId="urn:microsoft.com/office/officeart/2018/2/layout/IconVerticalSolidList"/>
    <dgm:cxn modelId="{AAE677A2-7195-479E-8DC5-3989240276C3}" type="presOf" srcId="{6FBC8977-41D4-4135-8551-31F7C7A7CC9A}" destId="{891E5B5C-6BD0-47B1-9C02-03612C157165}" srcOrd="0" destOrd="0" presId="urn:microsoft.com/office/officeart/2018/2/layout/IconVerticalSolidList"/>
    <dgm:cxn modelId="{920630B8-3B96-454F-AC61-02D51212597C}" srcId="{BC078A7A-BD0F-4400-8087-6283BCFD79E8}" destId="{6FBC8977-41D4-4135-8551-31F7C7A7CC9A}" srcOrd="1" destOrd="0" parTransId="{DA9662CD-4F36-4398-8C84-5D1CC807AC95}" sibTransId="{9D9E10D6-E912-4C87-9A6D-5D46FB28C1C9}"/>
    <dgm:cxn modelId="{1FFF3F6C-9FBC-4640-9807-729B8E74FD49}" type="presParOf" srcId="{038D0412-AE4C-4070-B918-E6BFA871C8D5}" destId="{340247FB-0829-46AC-8E4D-4FE696286F08}" srcOrd="0" destOrd="0" presId="urn:microsoft.com/office/officeart/2018/2/layout/IconVerticalSolidList"/>
    <dgm:cxn modelId="{F75A3197-559B-4128-AF66-DDFA52EB9912}" type="presParOf" srcId="{340247FB-0829-46AC-8E4D-4FE696286F08}" destId="{A8A3541E-3F47-4CCF-8E1F-9CECE5455222}" srcOrd="0" destOrd="0" presId="urn:microsoft.com/office/officeart/2018/2/layout/IconVerticalSolidList"/>
    <dgm:cxn modelId="{0F73F9F8-61AC-4E30-AED2-81FF35D0BCBD}" type="presParOf" srcId="{340247FB-0829-46AC-8E4D-4FE696286F08}" destId="{C1378271-AC74-444A-BFF5-2441614CC6EE}" srcOrd="1" destOrd="0" presId="urn:microsoft.com/office/officeart/2018/2/layout/IconVerticalSolidList"/>
    <dgm:cxn modelId="{8D42B012-1584-422B-BCD3-DA9777778938}" type="presParOf" srcId="{340247FB-0829-46AC-8E4D-4FE696286F08}" destId="{DBE21294-2FC2-461A-B088-B283FE0756A3}" srcOrd="2" destOrd="0" presId="urn:microsoft.com/office/officeart/2018/2/layout/IconVerticalSolidList"/>
    <dgm:cxn modelId="{E685DB90-A169-4152-8157-610B9EF7103D}" type="presParOf" srcId="{340247FB-0829-46AC-8E4D-4FE696286F08}" destId="{68C67FB5-9E23-47DB-8D4E-9CC60DC921EE}" srcOrd="3" destOrd="0" presId="urn:microsoft.com/office/officeart/2018/2/layout/IconVerticalSolidList"/>
    <dgm:cxn modelId="{BEAB0501-1C92-4CFE-AE24-FED265007534}" type="presParOf" srcId="{038D0412-AE4C-4070-B918-E6BFA871C8D5}" destId="{E0CC600A-9956-4B9E-A19B-029ECFF16A1D}" srcOrd="1" destOrd="0" presId="urn:microsoft.com/office/officeart/2018/2/layout/IconVerticalSolidList"/>
    <dgm:cxn modelId="{85D768C1-3AE6-44C1-AA7B-F6BDE986937B}" type="presParOf" srcId="{038D0412-AE4C-4070-B918-E6BFA871C8D5}" destId="{AA89DA1B-D320-4C85-88AE-D25655C6EE61}" srcOrd="2" destOrd="0" presId="urn:microsoft.com/office/officeart/2018/2/layout/IconVerticalSolidList"/>
    <dgm:cxn modelId="{56FFBE8B-C901-4D45-977C-08E3F15B2212}" type="presParOf" srcId="{AA89DA1B-D320-4C85-88AE-D25655C6EE61}" destId="{008E3414-5FCE-4B4A-8A37-B1B8390E7E44}" srcOrd="0" destOrd="0" presId="urn:microsoft.com/office/officeart/2018/2/layout/IconVerticalSolidList"/>
    <dgm:cxn modelId="{16EF5A85-EC2E-46F3-A4B3-3351F75D07B5}" type="presParOf" srcId="{AA89DA1B-D320-4C85-88AE-D25655C6EE61}" destId="{7ADEA583-690C-48C7-837D-3F92057DD658}" srcOrd="1" destOrd="0" presId="urn:microsoft.com/office/officeart/2018/2/layout/IconVerticalSolidList"/>
    <dgm:cxn modelId="{4A963B59-E718-4BAA-A6B1-4FDBD0B62F0D}" type="presParOf" srcId="{AA89DA1B-D320-4C85-88AE-D25655C6EE61}" destId="{D39D2CEC-7432-4D57-B18F-DB6A366870F6}" srcOrd="2" destOrd="0" presId="urn:microsoft.com/office/officeart/2018/2/layout/IconVerticalSolidList"/>
    <dgm:cxn modelId="{C3799451-B519-4658-8EFD-C2F784FB875E}" type="presParOf" srcId="{AA89DA1B-D320-4C85-88AE-D25655C6EE61}" destId="{891E5B5C-6BD0-47B1-9C02-03612C157165}" srcOrd="3" destOrd="0" presId="urn:microsoft.com/office/officeart/2018/2/layout/IconVerticalSolidList"/>
    <dgm:cxn modelId="{3B341F7F-1E84-410A-8909-47EDE2225375}" type="presParOf" srcId="{038D0412-AE4C-4070-B918-E6BFA871C8D5}" destId="{AEB08EE6-FB5C-4F05-B918-066F700A2BF8}" srcOrd="3" destOrd="0" presId="urn:microsoft.com/office/officeart/2018/2/layout/IconVerticalSolidList"/>
    <dgm:cxn modelId="{B8975F58-0514-4FA3-BCF5-0DFC1167B18E}" type="presParOf" srcId="{038D0412-AE4C-4070-B918-E6BFA871C8D5}" destId="{77E098FB-A389-43CB-B7C0-D0FC49CFF7EF}" srcOrd="4" destOrd="0" presId="urn:microsoft.com/office/officeart/2018/2/layout/IconVerticalSolidList"/>
    <dgm:cxn modelId="{290A2879-11DC-40E8-BBB4-136AE9A2D26E}" type="presParOf" srcId="{77E098FB-A389-43CB-B7C0-D0FC49CFF7EF}" destId="{1FC8B9D5-D861-4B6F-B487-A90C866BA641}" srcOrd="0" destOrd="0" presId="urn:microsoft.com/office/officeart/2018/2/layout/IconVerticalSolidList"/>
    <dgm:cxn modelId="{D085738D-EA41-4F54-809C-6CC38851B615}" type="presParOf" srcId="{77E098FB-A389-43CB-B7C0-D0FC49CFF7EF}" destId="{137A444F-D100-4D80-8D9A-444E6942BBB2}" srcOrd="1" destOrd="0" presId="urn:microsoft.com/office/officeart/2018/2/layout/IconVerticalSolidList"/>
    <dgm:cxn modelId="{B0BB6716-2687-4260-8C9B-C1D85CB31BAB}" type="presParOf" srcId="{77E098FB-A389-43CB-B7C0-D0FC49CFF7EF}" destId="{B6A79646-73BE-44F9-8E47-D8A5CC40B3B8}" srcOrd="2" destOrd="0" presId="urn:microsoft.com/office/officeart/2018/2/layout/IconVerticalSolidList"/>
    <dgm:cxn modelId="{0BF3785A-3C77-4CF7-9DD6-8D63498E003D}" type="presParOf" srcId="{77E098FB-A389-43CB-B7C0-D0FC49CFF7EF}" destId="{50651566-00E1-4875-B16F-B4A76003FDE2}" srcOrd="3" destOrd="0" presId="urn:microsoft.com/office/officeart/2018/2/layout/IconVerticalSolidList"/>
    <dgm:cxn modelId="{810E4636-10C4-43DD-97C9-A042ADB2A68C}" type="presParOf" srcId="{038D0412-AE4C-4070-B918-E6BFA871C8D5}" destId="{D3542185-AF4A-4AA5-B754-43F6E0154CB6}" srcOrd="5" destOrd="0" presId="urn:microsoft.com/office/officeart/2018/2/layout/IconVerticalSolidList"/>
    <dgm:cxn modelId="{AC83D2F9-8B92-4CC1-8996-2E7EE690852B}" type="presParOf" srcId="{038D0412-AE4C-4070-B918-E6BFA871C8D5}" destId="{59D51ADA-1B3C-426D-9656-E5B97E4BFFCC}" srcOrd="6" destOrd="0" presId="urn:microsoft.com/office/officeart/2018/2/layout/IconVerticalSolidList"/>
    <dgm:cxn modelId="{8BAFE86C-20B9-4359-B5E1-96446982C874}" type="presParOf" srcId="{59D51ADA-1B3C-426D-9656-E5B97E4BFFCC}" destId="{00DDF8B5-3175-477D-AC78-5CFE242590C4}" srcOrd="0" destOrd="0" presId="urn:microsoft.com/office/officeart/2018/2/layout/IconVerticalSolidList"/>
    <dgm:cxn modelId="{270EE3CC-111D-4CF8-909C-0EA18836D3FB}" type="presParOf" srcId="{59D51ADA-1B3C-426D-9656-E5B97E4BFFCC}" destId="{10E297F3-A0D3-41F1-9265-46190CFD7240}" srcOrd="1" destOrd="0" presId="urn:microsoft.com/office/officeart/2018/2/layout/IconVerticalSolidList"/>
    <dgm:cxn modelId="{1FDAAC69-76A1-4C74-B8C5-90831EB954CE}" type="presParOf" srcId="{59D51ADA-1B3C-426D-9656-E5B97E4BFFCC}" destId="{98A9B584-ED04-4DBC-9134-5E92A7713292}" srcOrd="2" destOrd="0" presId="urn:microsoft.com/office/officeart/2018/2/layout/IconVerticalSolidList"/>
    <dgm:cxn modelId="{A9A232B2-63B0-4D65-A173-B2056F1ECD0D}" type="presParOf" srcId="{59D51ADA-1B3C-426D-9656-E5B97E4BFFCC}" destId="{D95B31C2-5350-4613-9DC1-5F70A9B2847A}" srcOrd="3" destOrd="0" presId="urn:microsoft.com/office/officeart/2018/2/layout/IconVerticalSolidList"/>
    <dgm:cxn modelId="{57C17A5F-18EC-4CD4-871D-1929F55672A0}" type="presParOf" srcId="{038D0412-AE4C-4070-B918-E6BFA871C8D5}" destId="{D07B990E-E12A-4B9A-9749-43671A77333F}" srcOrd="7" destOrd="0" presId="urn:microsoft.com/office/officeart/2018/2/layout/IconVerticalSolidList"/>
    <dgm:cxn modelId="{D8C253DC-3BA1-4F04-9033-B545FC2D04AD}" type="presParOf" srcId="{038D0412-AE4C-4070-B918-E6BFA871C8D5}" destId="{4343E475-B0D4-4027-9426-50337602C1FE}" srcOrd="8" destOrd="0" presId="urn:microsoft.com/office/officeart/2018/2/layout/IconVerticalSolidList"/>
    <dgm:cxn modelId="{6E713C2D-D256-46A2-B058-B8C33D4AF17C}" type="presParOf" srcId="{4343E475-B0D4-4027-9426-50337602C1FE}" destId="{E30CC188-3733-4C0A-8735-05554BE143A8}" srcOrd="0" destOrd="0" presId="urn:microsoft.com/office/officeart/2018/2/layout/IconVerticalSolidList"/>
    <dgm:cxn modelId="{06BFDDA0-39F3-4001-8A0E-852AA0BC3D3E}" type="presParOf" srcId="{4343E475-B0D4-4027-9426-50337602C1FE}" destId="{529D2A9C-04E8-484E-953B-E1491A97C733}" srcOrd="1" destOrd="0" presId="urn:microsoft.com/office/officeart/2018/2/layout/IconVerticalSolidList"/>
    <dgm:cxn modelId="{1BE5D364-762C-4093-BF0E-4E8486BCB3D3}" type="presParOf" srcId="{4343E475-B0D4-4027-9426-50337602C1FE}" destId="{E9152F91-E677-4785-9BF3-F63D3B3BB2AA}" srcOrd="2" destOrd="0" presId="urn:microsoft.com/office/officeart/2018/2/layout/IconVerticalSolidList"/>
    <dgm:cxn modelId="{FA747928-3397-49B5-B0EE-BF10C98C9566}" type="presParOf" srcId="{4343E475-B0D4-4027-9426-50337602C1FE}" destId="{F0888672-399F-48BC-8B57-180F4F449BE3}" srcOrd="3" destOrd="0" presId="urn:microsoft.com/office/officeart/2018/2/layout/IconVerticalSolidList"/>
    <dgm:cxn modelId="{5D8EE4C9-3754-46A6-9E15-E87A757B6F32}" type="presParOf" srcId="{038D0412-AE4C-4070-B918-E6BFA871C8D5}" destId="{0558D794-0CC9-4FFF-AB79-C487FAC3A174}" srcOrd="9" destOrd="0" presId="urn:microsoft.com/office/officeart/2018/2/layout/IconVerticalSolidList"/>
    <dgm:cxn modelId="{70DC0C20-913B-4EDA-B460-CB495B10B6F4}" type="presParOf" srcId="{038D0412-AE4C-4070-B918-E6BFA871C8D5}" destId="{222E65E6-EDCC-4006-8C84-E23557F8DDD0}" srcOrd="10" destOrd="0" presId="urn:microsoft.com/office/officeart/2018/2/layout/IconVerticalSolidList"/>
    <dgm:cxn modelId="{EBA89DA0-A5CD-4AB5-A8D0-B53A6E568723}" type="presParOf" srcId="{222E65E6-EDCC-4006-8C84-E23557F8DDD0}" destId="{DD052B96-5C2D-46C9-97C6-391A32D74596}" srcOrd="0" destOrd="0" presId="urn:microsoft.com/office/officeart/2018/2/layout/IconVerticalSolidList"/>
    <dgm:cxn modelId="{59A8F2D5-0E8A-4CED-8AF9-5EAABC1EDFE4}" type="presParOf" srcId="{222E65E6-EDCC-4006-8C84-E23557F8DDD0}" destId="{25902631-0ABF-4CD2-9F9A-5024501D9454}" srcOrd="1" destOrd="0" presId="urn:microsoft.com/office/officeart/2018/2/layout/IconVerticalSolidList"/>
    <dgm:cxn modelId="{B3802C98-5299-4D05-8ECE-07588C7A4DE2}" type="presParOf" srcId="{222E65E6-EDCC-4006-8C84-E23557F8DDD0}" destId="{3115F8FF-88FA-4D24-A38D-871753C4489D}" srcOrd="2" destOrd="0" presId="urn:microsoft.com/office/officeart/2018/2/layout/IconVerticalSolidList"/>
    <dgm:cxn modelId="{69FA7CB8-A579-4D09-87A7-7724EA9F55A1}" type="presParOf" srcId="{222E65E6-EDCC-4006-8C84-E23557F8DDD0}" destId="{80402162-E3FD-49AB-B397-7F1A67D3B1E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A3541E-3F47-4CCF-8E1F-9CECE5455222}">
      <dsp:nvSpPr>
        <dsp:cNvPr id="0" name=""/>
        <dsp:cNvSpPr/>
      </dsp:nvSpPr>
      <dsp:spPr>
        <a:xfrm>
          <a:off x="0" y="1189"/>
          <a:ext cx="11029615" cy="50702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378271-AC74-444A-BFF5-2441614CC6EE}">
      <dsp:nvSpPr>
        <dsp:cNvPr id="0" name=""/>
        <dsp:cNvSpPr/>
      </dsp:nvSpPr>
      <dsp:spPr>
        <a:xfrm>
          <a:off x="153374" y="115270"/>
          <a:ext cx="278863" cy="2788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C67FB5-9E23-47DB-8D4E-9CC60DC921EE}">
      <dsp:nvSpPr>
        <dsp:cNvPr id="0" name=""/>
        <dsp:cNvSpPr/>
      </dsp:nvSpPr>
      <dsp:spPr>
        <a:xfrm>
          <a:off x="585612" y="1189"/>
          <a:ext cx="10444002" cy="507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660" tIns="53660" rIns="53660" bIns="5366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This project applies the full data-science workflow using Python and Tableau</a:t>
          </a:r>
        </a:p>
      </dsp:txBody>
      <dsp:txXfrm>
        <a:off x="585612" y="1189"/>
        <a:ext cx="10444002" cy="507023"/>
      </dsp:txXfrm>
    </dsp:sp>
    <dsp:sp modelId="{008E3414-5FCE-4B4A-8A37-B1B8390E7E44}">
      <dsp:nvSpPr>
        <dsp:cNvPr id="0" name=""/>
        <dsp:cNvSpPr/>
      </dsp:nvSpPr>
      <dsp:spPr>
        <a:xfrm>
          <a:off x="0" y="634969"/>
          <a:ext cx="11029615" cy="50702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DEA583-690C-48C7-837D-3F92057DD658}">
      <dsp:nvSpPr>
        <dsp:cNvPr id="0" name=""/>
        <dsp:cNvSpPr/>
      </dsp:nvSpPr>
      <dsp:spPr>
        <a:xfrm>
          <a:off x="153374" y="749050"/>
          <a:ext cx="278863" cy="2788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1E5B5C-6BD0-47B1-9C02-03612C157165}">
      <dsp:nvSpPr>
        <dsp:cNvPr id="0" name=""/>
        <dsp:cNvSpPr/>
      </dsp:nvSpPr>
      <dsp:spPr>
        <a:xfrm>
          <a:off x="585612" y="634969"/>
          <a:ext cx="10444002" cy="507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660" tIns="53660" rIns="53660" bIns="5366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Each group member used their own dataset from CTEC 128 and reproduced the analysis using Python instead of Excel</a:t>
          </a:r>
        </a:p>
      </dsp:txBody>
      <dsp:txXfrm>
        <a:off x="585612" y="634969"/>
        <a:ext cx="10444002" cy="507023"/>
      </dsp:txXfrm>
    </dsp:sp>
    <dsp:sp modelId="{1FC8B9D5-D861-4B6F-B487-A90C866BA641}">
      <dsp:nvSpPr>
        <dsp:cNvPr id="0" name=""/>
        <dsp:cNvSpPr/>
      </dsp:nvSpPr>
      <dsp:spPr>
        <a:xfrm>
          <a:off x="0" y="1268749"/>
          <a:ext cx="11029615" cy="50702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7A444F-D100-4D80-8D9A-444E6942BBB2}">
      <dsp:nvSpPr>
        <dsp:cNvPr id="0" name=""/>
        <dsp:cNvSpPr/>
      </dsp:nvSpPr>
      <dsp:spPr>
        <a:xfrm>
          <a:off x="153374" y="1382829"/>
          <a:ext cx="278863" cy="2788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651566-00E1-4875-B16F-B4A76003FDE2}">
      <dsp:nvSpPr>
        <dsp:cNvPr id="0" name=""/>
        <dsp:cNvSpPr/>
      </dsp:nvSpPr>
      <dsp:spPr>
        <a:xfrm>
          <a:off x="585612" y="1268749"/>
          <a:ext cx="10444002" cy="507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660" tIns="53660" rIns="53660" bIns="5366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Our work included loading data, cleaning and transforming datasets, creating six required Python plots, and building two Tableau visualizations</a:t>
          </a:r>
        </a:p>
      </dsp:txBody>
      <dsp:txXfrm>
        <a:off x="585612" y="1268749"/>
        <a:ext cx="10444002" cy="507023"/>
      </dsp:txXfrm>
    </dsp:sp>
    <dsp:sp modelId="{00DDF8B5-3175-477D-AC78-5CFE242590C4}">
      <dsp:nvSpPr>
        <dsp:cNvPr id="0" name=""/>
        <dsp:cNvSpPr/>
      </dsp:nvSpPr>
      <dsp:spPr>
        <a:xfrm>
          <a:off x="0" y="1902529"/>
          <a:ext cx="11029615" cy="50702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E297F3-A0D3-41F1-9265-46190CFD7240}">
      <dsp:nvSpPr>
        <dsp:cNvPr id="0" name=""/>
        <dsp:cNvSpPr/>
      </dsp:nvSpPr>
      <dsp:spPr>
        <a:xfrm>
          <a:off x="153374" y="2016609"/>
          <a:ext cx="278863" cy="2788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5B31C2-5350-4613-9DC1-5F70A9B2847A}">
      <dsp:nvSpPr>
        <dsp:cNvPr id="0" name=""/>
        <dsp:cNvSpPr/>
      </dsp:nvSpPr>
      <dsp:spPr>
        <a:xfrm>
          <a:off x="585612" y="1902529"/>
          <a:ext cx="10444002" cy="507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660" tIns="53660" rIns="53660" bIns="5366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We documented the original datasets, the cleaned datasets, the code used, and the final outputs</a:t>
          </a:r>
        </a:p>
      </dsp:txBody>
      <dsp:txXfrm>
        <a:off x="585612" y="1902529"/>
        <a:ext cx="10444002" cy="507023"/>
      </dsp:txXfrm>
    </dsp:sp>
    <dsp:sp modelId="{E30CC188-3733-4C0A-8735-05554BE143A8}">
      <dsp:nvSpPr>
        <dsp:cNvPr id="0" name=""/>
        <dsp:cNvSpPr/>
      </dsp:nvSpPr>
      <dsp:spPr>
        <a:xfrm>
          <a:off x="0" y="2536309"/>
          <a:ext cx="11029615" cy="50702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9D2A9C-04E8-484E-953B-E1491A97C733}">
      <dsp:nvSpPr>
        <dsp:cNvPr id="0" name=""/>
        <dsp:cNvSpPr/>
      </dsp:nvSpPr>
      <dsp:spPr>
        <a:xfrm>
          <a:off x="153374" y="2650389"/>
          <a:ext cx="278863" cy="27886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888672-399F-48BC-8B57-180F4F449BE3}">
      <dsp:nvSpPr>
        <dsp:cNvPr id="0" name=""/>
        <dsp:cNvSpPr/>
      </dsp:nvSpPr>
      <dsp:spPr>
        <a:xfrm>
          <a:off x="585612" y="2536309"/>
          <a:ext cx="10444002" cy="507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660" tIns="53660" rIns="53660" bIns="5366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goal was to show that the same analytical process can be applied to different data sources</a:t>
          </a:r>
        </a:p>
      </dsp:txBody>
      <dsp:txXfrm>
        <a:off x="585612" y="2536309"/>
        <a:ext cx="10444002" cy="507023"/>
      </dsp:txXfrm>
    </dsp:sp>
    <dsp:sp modelId="{DD052B96-5C2D-46C9-97C6-391A32D74596}">
      <dsp:nvSpPr>
        <dsp:cNvPr id="0" name=""/>
        <dsp:cNvSpPr/>
      </dsp:nvSpPr>
      <dsp:spPr>
        <a:xfrm>
          <a:off x="0" y="3170089"/>
          <a:ext cx="11029615" cy="50702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902631-0ABF-4CD2-9F9A-5024501D9454}">
      <dsp:nvSpPr>
        <dsp:cNvPr id="0" name=""/>
        <dsp:cNvSpPr/>
      </dsp:nvSpPr>
      <dsp:spPr>
        <a:xfrm>
          <a:off x="153374" y="3284169"/>
          <a:ext cx="278863" cy="27886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402162-E3FD-49AB-B397-7F1A67D3B1E3}">
      <dsp:nvSpPr>
        <dsp:cNvPr id="0" name=""/>
        <dsp:cNvSpPr/>
      </dsp:nvSpPr>
      <dsp:spPr>
        <a:xfrm>
          <a:off x="585612" y="3170089"/>
          <a:ext cx="10444002" cy="507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660" tIns="53660" rIns="53660" bIns="5366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Demonstrated skills across Python, Jupyter Notebook, Matplotlib, Tableau, GitHub, NumPy, and Pandas</a:t>
          </a:r>
        </a:p>
      </dsp:txBody>
      <dsp:txXfrm>
        <a:off x="585612" y="3170089"/>
        <a:ext cx="10444002" cy="5070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nsus.gov/programs-surveys/acs/microdata/access.2022.html?utm_source=chatgpt.com" TargetMode="External"/><Relationship Id="rId2" Type="http://schemas.openxmlformats.org/officeDocument/2006/relationships/hyperlink" Target="https://www.census.gov/programs-surveys/acs/microdata/acces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ls.gov/opub/reports/race-and-ethnicity/2021/home.htm?utm_source=chatgpt.com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Data analysis &amp; Visualization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895244"/>
          </a:xfrm>
        </p:spPr>
        <p:txBody>
          <a:bodyPr>
            <a:normAutofit fontScale="77500" lnSpcReduction="20000"/>
          </a:bodyPr>
          <a:lstStyle/>
          <a:p>
            <a:r>
              <a:rPr lang="en-US">
                <a:solidFill>
                  <a:srgbClr val="7CEBFF"/>
                </a:solidFill>
              </a:rPr>
              <a:t>CTEC 298 – 101 Symbolic Computation use big data</a:t>
            </a:r>
          </a:p>
          <a:p>
            <a:r>
              <a:rPr lang="en-US">
                <a:solidFill>
                  <a:srgbClr val="7CEBFF"/>
                </a:solidFill>
              </a:rPr>
              <a:t>Final Presentation</a:t>
            </a:r>
          </a:p>
          <a:p>
            <a:r>
              <a:rPr lang="en-US">
                <a:solidFill>
                  <a:srgbClr val="7CEBFF"/>
                </a:solidFill>
              </a:rPr>
              <a:t>By: Torrodjae Somerville &amp; Theresha Miller</a:t>
            </a:r>
          </a:p>
          <a:p>
            <a:endParaRPr lang="en-US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9243C-C799-7D63-7F66-BED9A95B4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anchor="b">
            <a:normAutofit/>
          </a:bodyPr>
          <a:lstStyle/>
          <a:p>
            <a:r>
              <a:rPr lang="en-US"/>
              <a:t>introduction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A7E6B8FB-6574-2A09-8F1C-BC1E4006D9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6850965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4105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18169-15E5-EDEF-99C9-40D88C06A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Ctec</a:t>
            </a:r>
            <a:r>
              <a:rPr lang="en-US"/>
              <a:t> 128 Paper Summary: Group Leader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8FC7B-3CBD-7517-5BC0-F7F4B5D1E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5"/>
            <a:ext cx="11029615" cy="4574266"/>
          </a:xfrm>
        </p:spPr>
        <p:txBody>
          <a:bodyPr>
            <a:normAutofit fontScale="92500" lnSpcReduction="20000"/>
          </a:bodyPr>
          <a:lstStyle/>
          <a:p>
            <a:r>
              <a:rPr lang="en-US" b="1"/>
              <a:t>Topic: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Analyzing COVID-19 case trends and vaccination patterns in Maryland</a:t>
            </a:r>
          </a:p>
          <a:p>
            <a:r>
              <a:rPr lang="en-US" b="1"/>
              <a:t>Dataset: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COVID-19 cases by county and date.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Vaccination rates by county (first dose and completed series)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Focus on Maryland counties only</a:t>
            </a:r>
          </a:p>
          <a:p>
            <a:r>
              <a:rPr lang="en-US" b="1"/>
              <a:t>Key Steps: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Removed unneeded columns and incomplete records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Calculated </a:t>
            </a:r>
            <a:r>
              <a:rPr lang="en-US" b="1"/>
              <a:t>Daily New Cases</a:t>
            </a:r>
            <a:r>
              <a:rPr lang="en-US"/>
              <a:t> from cumulative totals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Used mean, median, and standard deviation to describe the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Created charts to compare cases and vaccination trends over time</a:t>
            </a:r>
          </a:p>
          <a:p>
            <a:r>
              <a:rPr lang="en-US" b="1"/>
              <a:t>Main Finding: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Short term: vaccinations and high case counts overlapped.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Long term: as vaccination rates increased, </a:t>
            </a:r>
            <a:r>
              <a:rPr lang="en-US" b="1"/>
              <a:t>daily new cases declined</a:t>
            </a:r>
            <a:r>
              <a:rPr lang="en-US"/>
              <a:t>, showing vaccines helped control spread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95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E1DA3-8F72-93A4-A216-B324DC1BB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Ctec</a:t>
            </a:r>
            <a:r>
              <a:rPr lang="en-US"/>
              <a:t> 298 – course work summary (group leader)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5C700-2861-20F4-7E5E-39B4DC6E9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9753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/>
              <a:t>Introduced to multiple data-focused tutorials and hands-on tasks to understand Python tools:</a:t>
            </a:r>
            <a:br>
              <a:rPr lang="en-US"/>
            </a:br>
            <a:endParaRPr lang="en-US"/>
          </a:p>
          <a:p>
            <a:r>
              <a:rPr lang="en-US"/>
              <a:t>Learned and used several major tools &amp; libraries:</a:t>
            </a:r>
          </a:p>
          <a:p>
            <a:pPr lvl="1"/>
            <a:r>
              <a:rPr lang="en-US" b="1" err="1"/>
              <a:t>Jupyter</a:t>
            </a:r>
            <a:r>
              <a:rPr lang="en-US" b="1"/>
              <a:t> Notebook</a:t>
            </a:r>
            <a:r>
              <a:rPr lang="en-US"/>
              <a:t> – interactive coding environment (.</a:t>
            </a:r>
            <a:r>
              <a:rPr lang="en-US" err="1"/>
              <a:t>ipynb</a:t>
            </a:r>
            <a:r>
              <a:rPr lang="en-US"/>
              <a:t>)</a:t>
            </a:r>
          </a:p>
          <a:p>
            <a:pPr lvl="1"/>
            <a:r>
              <a:rPr lang="en-US" b="1"/>
              <a:t>NumPy</a:t>
            </a:r>
            <a:r>
              <a:rPr lang="en-US"/>
              <a:t> – numerical computing, arrays, math operations</a:t>
            </a:r>
          </a:p>
          <a:p>
            <a:pPr lvl="1"/>
            <a:r>
              <a:rPr lang="en-US" b="1"/>
              <a:t>Pandas</a:t>
            </a:r>
            <a:r>
              <a:rPr lang="en-US"/>
              <a:t> – data loading, cleaning, filtering, merging, grouping</a:t>
            </a:r>
          </a:p>
          <a:p>
            <a:pPr lvl="1"/>
            <a:r>
              <a:rPr lang="en-US" b="1"/>
              <a:t>Matplotlib</a:t>
            </a:r>
            <a:r>
              <a:rPr lang="en-US"/>
              <a:t> – Python plots (bar, pie, histogram, scatter, stack plot, multiplot)</a:t>
            </a:r>
          </a:p>
          <a:p>
            <a:pPr lvl="1"/>
            <a:r>
              <a:rPr lang="en-US" b="1"/>
              <a:t>Tableau</a:t>
            </a:r>
            <a:r>
              <a:rPr lang="en-US"/>
              <a:t> – visual analytics tool for building dashboards</a:t>
            </a:r>
          </a:p>
          <a:p>
            <a:pPr lvl="1"/>
            <a:r>
              <a:rPr lang="en-US" b="1"/>
              <a:t>GitHub</a:t>
            </a:r>
            <a:r>
              <a:rPr lang="en-US"/>
              <a:t> – repository for uploading files and managing code</a:t>
            </a:r>
          </a:p>
          <a:p>
            <a:r>
              <a:rPr lang="en-US"/>
              <a:t>Imported and uploaded multiple files into GitHub using past CTEC 128 data</a:t>
            </a:r>
            <a:br>
              <a:rPr lang="en-US"/>
            </a:br>
            <a:endParaRPr lang="en-US"/>
          </a:p>
          <a:p>
            <a:r>
              <a:rPr lang="en-US"/>
              <a:t>Applied all tools to complete full workflow: load → clean → transform → visualize</a:t>
            </a:r>
          </a:p>
        </p:txBody>
      </p:sp>
    </p:spTree>
    <p:extLst>
      <p:ext uri="{BB962C8B-B14F-4D97-AF65-F5344CB8AC3E}">
        <p14:creationId xmlns:p14="http://schemas.microsoft.com/office/powerpoint/2010/main" val="731786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03242-98C2-1D41-4D22-B7B3221D7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Orginial</a:t>
            </a:r>
            <a:r>
              <a:rPr lang="en-US"/>
              <a:t> Datasets: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58FCE-943A-2C2D-84F3-D647F9EB7E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4020952" cy="398187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Original dataset 1 – Cases sheet</a:t>
            </a:r>
          </a:p>
          <a:p>
            <a:r>
              <a:rPr lang="en-US"/>
              <a:t>Sheet: MD_COVID-19_-_Cases_by_County</a:t>
            </a:r>
          </a:p>
          <a:p>
            <a:r>
              <a:rPr lang="en-US"/>
              <a:t>Example Columns:</a:t>
            </a:r>
          </a:p>
          <a:p>
            <a:pPr lvl="1"/>
            <a:r>
              <a:rPr lang="en-US"/>
              <a:t>DATE</a:t>
            </a:r>
          </a:p>
          <a:p>
            <a:pPr lvl="1"/>
            <a:r>
              <a:rPr lang="en-US"/>
              <a:t>County columns (Allegany, </a:t>
            </a:r>
            <a:r>
              <a:rPr lang="en-US" err="1"/>
              <a:t>Anne_Arundel</a:t>
            </a:r>
            <a:r>
              <a:rPr lang="en-US"/>
              <a:t>)</a:t>
            </a:r>
          </a:p>
          <a:p>
            <a:pPr lvl="1"/>
            <a:r>
              <a:rPr lang="en-US"/>
              <a:t>Total Cases</a:t>
            </a:r>
          </a:p>
          <a:p>
            <a:pPr lvl="1"/>
            <a:r>
              <a:rPr lang="en-US"/>
              <a:t>Daily New Cases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67F084-A001-E131-9A7D-03439191D1A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02145" y="1919235"/>
            <a:ext cx="7008663" cy="4783016"/>
          </a:xfrm>
        </p:spPr>
      </p:pic>
    </p:spTree>
    <p:extLst>
      <p:ext uri="{BB962C8B-B14F-4D97-AF65-F5344CB8AC3E}">
        <p14:creationId xmlns:p14="http://schemas.microsoft.com/office/powerpoint/2010/main" val="2782040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0E51D-E5D6-BDF8-AB73-9FB18B5CA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Original dataset 2 (Vaccination data)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CB3AF-C4A9-1A92-9685-0B7EED5495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3528583" cy="3633047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Original dataset 2 – Vaccination sheet</a:t>
            </a:r>
          </a:p>
          <a:p>
            <a:r>
              <a:rPr lang="en-US"/>
              <a:t>Example columns:</a:t>
            </a:r>
          </a:p>
          <a:p>
            <a:pPr lvl="1"/>
            <a:r>
              <a:rPr lang="en-US"/>
              <a:t>Date</a:t>
            </a:r>
          </a:p>
          <a:p>
            <a:pPr lvl="1"/>
            <a:r>
              <a:rPr lang="en-US" err="1"/>
              <a:t>Recip_State</a:t>
            </a:r>
            <a:endParaRPr lang="en-US"/>
          </a:p>
          <a:p>
            <a:pPr lvl="1"/>
            <a:r>
              <a:rPr lang="en-US" err="1"/>
              <a:t>Recip_County</a:t>
            </a:r>
            <a:endParaRPr lang="en-US"/>
          </a:p>
          <a:p>
            <a:pPr lvl="1"/>
            <a:r>
              <a:rPr lang="en-US"/>
              <a:t>Administered_Dose1_Pop_Pct</a:t>
            </a:r>
          </a:p>
          <a:p>
            <a:pPr lvl="1"/>
            <a:r>
              <a:rPr lang="en-US" err="1"/>
              <a:t>Series_Complete_Pop_Pct</a:t>
            </a:r>
            <a:endParaRPr lang="en-US"/>
          </a:p>
        </p:txBody>
      </p:sp>
      <p:pic>
        <p:nvPicPr>
          <p:cNvPr id="14" name="Content Placeholder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F85206-578C-90CD-48CF-905066ACCFE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938954" y="2039815"/>
            <a:ext cx="7672022" cy="4401178"/>
          </a:xfrm>
        </p:spPr>
      </p:pic>
    </p:spTree>
    <p:extLst>
      <p:ext uri="{BB962C8B-B14F-4D97-AF65-F5344CB8AC3E}">
        <p14:creationId xmlns:p14="http://schemas.microsoft.com/office/powerpoint/2010/main" val="98040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9ABB1-908B-6FBF-175D-8E7853454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Cleaning &amp; Wrangling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F910E4-F2A3-A20D-4812-244557AC29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3123" y="2228003"/>
            <a:ext cx="5184205" cy="441860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300" b="1"/>
              <a:t>Goals of cleaning:</a:t>
            </a:r>
          </a:p>
          <a:p>
            <a:r>
              <a:rPr lang="en-US" sz="2300"/>
              <a:t>Focus on </a:t>
            </a:r>
            <a:r>
              <a:rPr lang="en-US" sz="2300" b="1"/>
              <a:t>Maryland counties only</a:t>
            </a:r>
          </a:p>
          <a:p>
            <a:r>
              <a:rPr lang="en-US" sz="2300"/>
              <a:t>Link </a:t>
            </a:r>
            <a:r>
              <a:rPr lang="en-US" sz="2300" b="1"/>
              <a:t>cases</a:t>
            </a:r>
            <a:r>
              <a:rPr lang="en-US" sz="2300"/>
              <a:t> and </a:t>
            </a:r>
            <a:r>
              <a:rPr lang="en-US" sz="2300" b="1"/>
              <a:t>vaccination</a:t>
            </a:r>
            <a:r>
              <a:rPr lang="en-US" sz="2300"/>
              <a:t> data</a:t>
            </a:r>
          </a:p>
          <a:p>
            <a:r>
              <a:rPr lang="en-US" sz="2300"/>
              <a:t>Build smaller “final” datasets for each plot</a:t>
            </a:r>
          </a:p>
          <a:p>
            <a:pPr marL="0" indent="0">
              <a:buNone/>
            </a:pPr>
            <a:r>
              <a:rPr lang="en-US" sz="2300" b="1"/>
              <a:t>Main wrangling steps:</a:t>
            </a:r>
            <a:endParaRPr lang="en-US" sz="2300"/>
          </a:p>
          <a:p>
            <a:pPr lvl="1" fontAlgn="base"/>
            <a:r>
              <a:rPr lang="en-US" sz="2100"/>
              <a:t>Dropped rows without </a:t>
            </a:r>
            <a:r>
              <a:rPr lang="en-US" sz="2100" err="1"/>
              <a:t>Recip_County</a:t>
            </a:r>
            <a:endParaRPr lang="en-US" sz="2100"/>
          </a:p>
          <a:p>
            <a:pPr lvl="1" fontAlgn="base"/>
            <a:r>
              <a:rPr lang="en-US" sz="2100"/>
              <a:t>Selected only needed columns for county-level analysis</a:t>
            </a:r>
          </a:p>
          <a:p>
            <a:pPr lvl="1" fontAlgn="base"/>
            <a:r>
              <a:rPr lang="en-US" sz="2100"/>
              <a:t>Grouped by </a:t>
            </a:r>
            <a:r>
              <a:rPr lang="en-US" sz="2100" err="1"/>
              <a:t>Recip_County</a:t>
            </a:r>
            <a:r>
              <a:rPr lang="en-US" sz="2100"/>
              <a:t> and took </a:t>
            </a:r>
            <a:r>
              <a:rPr lang="en-US" sz="2100" b="1"/>
              <a:t>max</a:t>
            </a:r>
            <a:r>
              <a:rPr lang="en-US" sz="2100"/>
              <a:t> cumulative cases</a:t>
            </a:r>
          </a:p>
          <a:p>
            <a:pPr lvl="1" fontAlgn="base"/>
            <a:r>
              <a:rPr lang="en-US" sz="2100"/>
              <a:t>Converted DATE and Date columns to real datetime</a:t>
            </a:r>
          </a:p>
          <a:p>
            <a:pPr lvl="1" fontAlgn="base"/>
            <a:r>
              <a:rPr lang="en-US" sz="2100"/>
              <a:t>Filtered vaccination sheet to </a:t>
            </a:r>
            <a:r>
              <a:rPr lang="en-US" sz="2100" err="1"/>
              <a:t>Recip_State</a:t>
            </a:r>
            <a:r>
              <a:rPr lang="en-US" sz="2100"/>
              <a:t> == 'MD'</a:t>
            </a:r>
          </a:p>
          <a:p>
            <a:pPr lvl="1" fontAlgn="base"/>
            <a:r>
              <a:rPr lang="en-US" sz="2100"/>
              <a:t>Grouped vaccination data by Date and averaged vaccination %</a:t>
            </a:r>
          </a:p>
          <a:p>
            <a:pPr lvl="1" fontAlgn="base"/>
            <a:r>
              <a:rPr lang="en-US" sz="2100"/>
              <a:t>Merged </a:t>
            </a:r>
            <a:r>
              <a:rPr lang="en-US" sz="2100" b="1"/>
              <a:t>cases by date</a:t>
            </a:r>
            <a:r>
              <a:rPr lang="en-US" sz="2100"/>
              <a:t> with </a:t>
            </a:r>
            <a:r>
              <a:rPr lang="en-US" sz="2100" b="1"/>
              <a:t>vaccination by date</a:t>
            </a:r>
            <a:r>
              <a:rPr lang="en-US" sz="2100"/>
              <a:t> into </a:t>
            </a:r>
            <a:r>
              <a:rPr lang="en-US" sz="2100" err="1"/>
              <a:t>df_daily</a:t>
            </a:r>
            <a:endParaRPr lang="en-US" sz="2100"/>
          </a:p>
          <a:p>
            <a:pPr marL="0" indent="0">
              <a:buNone/>
            </a:pPr>
            <a:endParaRPr lang="en-US"/>
          </a:p>
        </p:txBody>
      </p:sp>
      <p:pic>
        <p:nvPicPr>
          <p:cNvPr id="7" name="Content Placeholder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45F6CF7-E6B1-AF38-74ED-7DA8CE63943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587327" y="1887794"/>
            <a:ext cx="6122891" cy="4758812"/>
          </a:xfrm>
        </p:spPr>
      </p:pic>
    </p:spTree>
    <p:extLst>
      <p:ext uri="{BB962C8B-B14F-4D97-AF65-F5344CB8AC3E}">
        <p14:creationId xmlns:p14="http://schemas.microsoft.com/office/powerpoint/2010/main" val="149317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E357E-3EA5-68BE-E092-81655B8EE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 plot: data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E57B2-027C-31E5-0CF2-A27942F2FC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4133468"/>
          </a:xfrm>
        </p:spPr>
        <p:txBody>
          <a:bodyPr>
            <a:normAutofit fontScale="92500" lnSpcReduction="10000"/>
          </a:bodyPr>
          <a:lstStyle/>
          <a:p>
            <a:r>
              <a:rPr lang="en-US" b="1"/>
              <a:t>Plot 1: Bar Plot – Cumulative Cases by County</a:t>
            </a:r>
            <a:endParaRPr lang="en-US"/>
          </a:p>
          <a:p>
            <a:r>
              <a:rPr lang="en-US" b="1"/>
              <a:t>Original dataset used:</a:t>
            </a:r>
            <a:endParaRPr lang="en-US"/>
          </a:p>
          <a:p>
            <a:pPr fontAlgn="base"/>
            <a:r>
              <a:rPr lang="en-US" err="1"/>
              <a:t>df_combined</a:t>
            </a:r>
            <a:r>
              <a:rPr lang="en-US"/>
              <a:t> (from Sheet1)</a:t>
            </a:r>
          </a:p>
          <a:p>
            <a:r>
              <a:rPr lang="en-US" b="1"/>
              <a:t>Cleaning / Final dataset (</a:t>
            </a:r>
            <a:r>
              <a:rPr lang="en-US" b="1" err="1"/>
              <a:t>df_counties</a:t>
            </a:r>
            <a:r>
              <a:rPr lang="en-US" b="1"/>
              <a:t>):</a:t>
            </a:r>
            <a:endParaRPr lang="en-US"/>
          </a:p>
          <a:p>
            <a:pPr fontAlgn="base"/>
            <a:r>
              <a:rPr lang="en-US"/>
              <a:t>Dropped rows with missing </a:t>
            </a:r>
            <a:r>
              <a:rPr lang="en-US" err="1"/>
              <a:t>Recip_County</a:t>
            </a:r>
            <a:endParaRPr lang="en-US"/>
          </a:p>
          <a:p>
            <a:pPr fontAlgn="base"/>
            <a:r>
              <a:rPr lang="en-US"/>
              <a:t>Kept columns:</a:t>
            </a:r>
          </a:p>
          <a:p>
            <a:pPr lvl="1" fontAlgn="base"/>
            <a:r>
              <a:rPr lang="en-US" err="1"/>
              <a:t>Recip_County</a:t>
            </a:r>
            <a:endParaRPr lang="en-US"/>
          </a:p>
          <a:p>
            <a:pPr lvl="1" fontAlgn="base"/>
            <a:r>
              <a:rPr lang="en-US"/>
              <a:t>Cumulative Cases</a:t>
            </a:r>
          </a:p>
          <a:p>
            <a:pPr lvl="1" fontAlgn="base"/>
            <a:r>
              <a:rPr lang="en-US"/>
              <a:t>Administered_Dose1_Pop_Pct</a:t>
            </a:r>
          </a:p>
          <a:p>
            <a:pPr lvl="1" fontAlgn="base"/>
            <a:r>
              <a:rPr lang="en-US" err="1"/>
              <a:t>Series_Complete_Pop_Pct</a:t>
            </a:r>
            <a:endParaRPr lang="en-US"/>
          </a:p>
          <a:p>
            <a:r>
              <a:rPr lang="en-US"/>
              <a:t>Grouped by </a:t>
            </a:r>
            <a:r>
              <a:rPr lang="en-US" err="1"/>
              <a:t>Recip_County</a:t>
            </a:r>
            <a:r>
              <a:rPr lang="en-US"/>
              <a:t> and took maximum Cumulative Cases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36D70E-C9D6-CC7C-749B-DC6529651D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03583" y="2418735"/>
            <a:ext cx="5607392" cy="3097161"/>
          </a:xfrm>
        </p:spPr>
      </p:pic>
    </p:spTree>
    <p:extLst>
      <p:ext uri="{BB962C8B-B14F-4D97-AF65-F5344CB8AC3E}">
        <p14:creationId xmlns:p14="http://schemas.microsoft.com/office/powerpoint/2010/main" val="2506005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0B016-AC0E-D641-E4EE-48DFF8E87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 plot: code &amp;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436AE-D1C6-12E0-D76B-6D403903E1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035277"/>
            <a:ext cx="4698730" cy="46309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/>
              <a:t>Key Python steps:</a:t>
            </a:r>
            <a:endParaRPr lang="en-US" sz="1600"/>
          </a:p>
          <a:p>
            <a:pPr fontAlgn="base"/>
            <a:r>
              <a:rPr lang="en-US" sz="1600" err="1"/>
              <a:t>df_counties</a:t>
            </a:r>
            <a:r>
              <a:rPr lang="en-US" sz="1600"/>
              <a:t> = </a:t>
            </a:r>
            <a:r>
              <a:rPr lang="en-US" sz="1600" err="1"/>
              <a:t>df_combined.dropna</a:t>
            </a:r>
            <a:r>
              <a:rPr lang="en-US" sz="1600"/>
              <a:t>(subset=['</a:t>
            </a:r>
            <a:r>
              <a:rPr lang="en-US" sz="1600" err="1"/>
              <a:t>Recip_County</a:t>
            </a:r>
            <a:r>
              <a:rPr lang="en-US" sz="1600"/>
              <a:t>'])</a:t>
            </a:r>
          </a:p>
          <a:p>
            <a:pPr fontAlgn="base"/>
            <a:r>
              <a:rPr lang="en-US" sz="1600"/>
              <a:t>Selected needed columns for counties</a:t>
            </a:r>
          </a:p>
          <a:p>
            <a:pPr fontAlgn="base"/>
            <a:r>
              <a:rPr lang="en-US" sz="1600" err="1"/>
              <a:t>groupby</a:t>
            </a:r>
            <a:r>
              <a:rPr lang="en-US" sz="1600"/>
              <a:t>('</a:t>
            </a:r>
            <a:r>
              <a:rPr lang="en-US" sz="1600" err="1"/>
              <a:t>Recip_County</a:t>
            </a:r>
            <a:r>
              <a:rPr lang="en-US" sz="1600"/>
              <a:t>').max() to get one row per county</a:t>
            </a:r>
          </a:p>
          <a:p>
            <a:pPr fontAlgn="base"/>
            <a:r>
              <a:rPr lang="en-US" sz="1600" err="1"/>
              <a:t>plt.bar</a:t>
            </a:r>
            <a:r>
              <a:rPr lang="en-US" sz="1600"/>
              <a:t>(</a:t>
            </a:r>
            <a:r>
              <a:rPr lang="en-US" sz="1600" err="1"/>
              <a:t>df_counties</a:t>
            </a:r>
            <a:r>
              <a:rPr lang="en-US" sz="1600"/>
              <a:t>['</a:t>
            </a:r>
            <a:r>
              <a:rPr lang="en-US" sz="1600" err="1"/>
              <a:t>Recip_County</a:t>
            </a:r>
            <a:r>
              <a:rPr lang="en-US" sz="1600"/>
              <a:t>'], </a:t>
            </a:r>
            <a:r>
              <a:rPr lang="en-US" sz="1600" err="1"/>
              <a:t>df_counties</a:t>
            </a:r>
            <a:r>
              <a:rPr lang="en-US" sz="1600"/>
              <a:t>['Cumulative Cases '])</a:t>
            </a:r>
          </a:p>
          <a:p>
            <a:pPr marL="0" indent="0">
              <a:buNone/>
            </a:pPr>
            <a:r>
              <a:rPr lang="en-US" sz="1600" b="1"/>
              <a:t>Plot interpretation (what it shows):</a:t>
            </a:r>
            <a:endParaRPr lang="en-US" sz="1600"/>
          </a:p>
          <a:p>
            <a:pPr fontAlgn="base"/>
            <a:r>
              <a:rPr lang="en-US" sz="1600"/>
              <a:t>Shows which Maryland counties have the </a:t>
            </a:r>
            <a:r>
              <a:rPr lang="en-US" sz="1600" b="1"/>
              <a:t>highest cumulative cases</a:t>
            </a:r>
            <a:endParaRPr lang="en-US" sz="1600"/>
          </a:p>
          <a:p>
            <a:pPr fontAlgn="base"/>
            <a:r>
              <a:rPr lang="en-US" sz="1600"/>
              <a:t>Easy to compare counties side-by-side</a:t>
            </a:r>
          </a:p>
          <a:p>
            <a:pPr fontAlgn="base"/>
            <a:r>
              <a:rPr lang="en-US" sz="1600"/>
              <a:t>Highlights counties with the greatest COVID-19 burden</a:t>
            </a:r>
          </a:p>
        </p:txBody>
      </p:sp>
      <p:pic>
        <p:nvPicPr>
          <p:cNvPr id="6" name="Content Placeholder 5" descr="A screenshot of a graph&#10;&#10;AI-generated content may be incorrect.">
            <a:extLst>
              <a:ext uri="{FF2B5EF4-FFF2-40B4-BE49-F238E27FC236}">
                <a16:creationId xmlns:a16="http://schemas.microsoft.com/office/drawing/2014/main" id="{A77BD3E3-254C-6AD3-94D6-018E6BCFED1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279923" y="1956619"/>
            <a:ext cx="6587612" cy="4630994"/>
          </a:xfrm>
        </p:spPr>
      </p:pic>
    </p:spTree>
    <p:extLst>
      <p:ext uri="{BB962C8B-B14F-4D97-AF65-F5344CB8AC3E}">
        <p14:creationId xmlns:p14="http://schemas.microsoft.com/office/powerpoint/2010/main" val="1522520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3FAFA-B7B7-3248-4017-19E31ED69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Pie Chart: Data &amp; Categories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C6E23-61A9-1921-E51C-B124A9290A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1" y="2228004"/>
            <a:ext cx="5422390" cy="4035144"/>
          </a:xfrm>
        </p:spPr>
        <p:txBody>
          <a:bodyPr>
            <a:normAutofit/>
          </a:bodyPr>
          <a:lstStyle/>
          <a:p>
            <a:r>
              <a:rPr lang="en-US" b="1"/>
              <a:t>Plot 2: Pie Chart – Vaccination Level by County</a:t>
            </a:r>
            <a:endParaRPr lang="en-US"/>
          </a:p>
          <a:p>
            <a:r>
              <a:rPr lang="en-US" b="1"/>
              <a:t>Original dataset used: </a:t>
            </a:r>
            <a:r>
              <a:rPr lang="en-US" err="1"/>
              <a:t>df_counties</a:t>
            </a:r>
            <a:r>
              <a:rPr lang="en-US"/>
              <a:t> (cleaned county dataset)</a:t>
            </a:r>
          </a:p>
          <a:p>
            <a:r>
              <a:rPr lang="en-US" b="1"/>
              <a:t>Final dataset:</a:t>
            </a:r>
            <a:endParaRPr lang="en-US"/>
          </a:p>
          <a:p>
            <a:pPr fontAlgn="base"/>
            <a:r>
              <a:rPr lang="en-US"/>
              <a:t>Added </a:t>
            </a:r>
            <a:r>
              <a:rPr lang="en-US" err="1"/>
              <a:t>Vaccination_Level</a:t>
            </a:r>
            <a:r>
              <a:rPr lang="en-US"/>
              <a:t> with categories: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en-US"/>
              <a:t>Below 50%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en-US"/>
              <a:t>50–69%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en-US"/>
              <a:t>70%+</a:t>
            </a:r>
          </a:p>
          <a:p>
            <a:pPr fontAlgn="base"/>
            <a:r>
              <a:rPr lang="en-US"/>
              <a:t>Used </a:t>
            </a:r>
            <a:r>
              <a:rPr lang="en-US" err="1"/>
              <a:t>value_counts</a:t>
            </a:r>
            <a:r>
              <a:rPr lang="en-US"/>
              <a:t>() to count how many counties in each category</a:t>
            </a:r>
          </a:p>
        </p:txBody>
      </p: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22BC13B-16B0-AD6B-8608-427706E18BF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03582" y="2228004"/>
            <a:ext cx="5607394" cy="3769673"/>
          </a:xfrm>
        </p:spPr>
      </p:pic>
    </p:spTree>
    <p:extLst>
      <p:ext uri="{BB962C8B-B14F-4D97-AF65-F5344CB8AC3E}">
        <p14:creationId xmlns:p14="http://schemas.microsoft.com/office/powerpoint/2010/main" val="2815394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51B8-ECD9-1DE7-86D4-6147C10A8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Pie Chart: code and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54CEE-5EAE-D2A4-E847-F783722AC7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79917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/>
              <a:t>Key Python steps:</a:t>
            </a:r>
            <a:endParaRPr lang="en-US"/>
          </a:p>
          <a:p>
            <a:pPr fontAlgn="base"/>
            <a:r>
              <a:rPr lang="en-US"/>
              <a:t>Defined </a:t>
            </a:r>
            <a:r>
              <a:rPr lang="en-US" b="1" err="1"/>
              <a:t>vacc_category</a:t>
            </a:r>
            <a:r>
              <a:rPr lang="en-US" b="1"/>
              <a:t>(pct) </a:t>
            </a:r>
            <a:r>
              <a:rPr lang="en-US"/>
              <a:t>function</a:t>
            </a:r>
          </a:p>
          <a:p>
            <a:pPr fontAlgn="base"/>
            <a:r>
              <a:rPr lang="en-US"/>
              <a:t>Applied to </a:t>
            </a:r>
            <a:r>
              <a:rPr lang="en-US" err="1"/>
              <a:t>Series_Complete_Pop_Pct</a:t>
            </a:r>
            <a:r>
              <a:rPr lang="en-US"/>
              <a:t> → created </a:t>
            </a:r>
            <a:r>
              <a:rPr lang="en-US" err="1"/>
              <a:t>Vaccination_Level</a:t>
            </a:r>
            <a:endParaRPr lang="en-US"/>
          </a:p>
          <a:p>
            <a:pPr fontAlgn="base"/>
            <a:r>
              <a:rPr lang="en-US" err="1"/>
              <a:t>pie_counts</a:t>
            </a:r>
            <a:r>
              <a:rPr lang="en-US"/>
              <a:t> = </a:t>
            </a:r>
            <a:r>
              <a:rPr lang="en-US" err="1"/>
              <a:t>df_counties</a:t>
            </a:r>
            <a:r>
              <a:rPr lang="en-US"/>
              <a:t>['</a:t>
            </a:r>
            <a:r>
              <a:rPr lang="en-US" err="1"/>
              <a:t>Vaccination_Level</a:t>
            </a:r>
            <a:r>
              <a:rPr lang="en-US"/>
              <a:t>'].</a:t>
            </a:r>
            <a:r>
              <a:rPr lang="en-US" err="1"/>
              <a:t>value_counts</a:t>
            </a:r>
            <a:r>
              <a:rPr lang="en-US"/>
              <a:t>()</a:t>
            </a:r>
          </a:p>
          <a:p>
            <a:pPr fontAlgn="base"/>
            <a:r>
              <a:rPr lang="en-US"/>
              <a:t>Built pie chart with </a:t>
            </a:r>
            <a:r>
              <a:rPr lang="en-US" b="1" err="1"/>
              <a:t>plt.pie</a:t>
            </a:r>
            <a:r>
              <a:rPr lang="en-US" b="1"/>
              <a:t>(...)</a:t>
            </a:r>
            <a:br>
              <a:rPr lang="en-US" b="1"/>
            </a:br>
            <a:endParaRPr lang="en-US" b="1"/>
          </a:p>
          <a:p>
            <a:pPr marL="0" indent="0">
              <a:buNone/>
            </a:pPr>
            <a:r>
              <a:rPr lang="en-US" b="1"/>
              <a:t>Plot interpretation:</a:t>
            </a:r>
            <a:endParaRPr lang="en-US"/>
          </a:p>
          <a:p>
            <a:pPr fontAlgn="base"/>
            <a:r>
              <a:rPr lang="en-US"/>
              <a:t>Shows </a:t>
            </a:r>
            <a:r>
              <a:rPr lang="en-US" b="1"/>
              <a:t>percentage</a:t>
            </a:r>
            <a:r>
              <a:rPr lang="en-US"/>
              <a:t> of counties in each </a:t>
            </a:r>
            <a:r>
              <a:rPr lang="en-US" b="1"/>
              <a:t>vaccination level</a:t>
            </a:r>
          </a:p>
          <a:p>
            <a:pPr fontAlgn="base"/>
            <a:r>
              <a:rPr lang="en-US"/>
              <a:t>Summarizes how well counties are doing overall with completed vaccination series</a:t>
            </a:r>
          </a:p>
          <a:p>
            <a:pPr fontAlgn="base"/>
            <a:r>
              <a:rPr lang="en-US" b="1"/>
              <a:t>No </a:t>
            </a:r>
            <a:r>
              <a:rPr lang="en-US"/>
              <a:t>Counties have </a:t>
            </a:r>
            <a:r>
              <a:rPr lang="en-US" b="1"/>
              <a:t>below 50% of population Vaccinated</a:t>
            </a:r>
          </a:p>
          <a:p>
            <a:endParaRPr lang="en-US"/>
          </a:p>
        </p:txBody>
      </p:sp>
      <p:pic>
        <p:nvPicPr>
          <p:cNvPr id="6" name="Content Placeholder 5" descr="A screenshot of a graph&#10;&#10;AI-generated content may be incorrect.">
            <a:extLst>
              <a:ext uri="{FF2B5EF4-FFF2-40B4-BE49-F238E27FC236}">
                <a16:creationId xmlns:a16="http://schemas.microsoft.com/office/drawing/2014/main" id="{4EA290CC-8423-2BEA-7FCD-E9EF39A665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08954" y="2064775"/>
            <a:ext cx="4542503" cy="4063568"/>
          </a:xfrm>
        </p:spPr>
      </p:pic>
    </p:spTree>
    <p:extLst>
      <p:ext uri="{BB962C8B-B14F-4D97-AF65-F5344CB8AC3E}">
        <p14:creationId xmlns:p14="http://schemas.microsoft.com/office/powerpoint/2010/main" val="826214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31FF2-D156-C4EC-649C-2B9689BB2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Histogram: Data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158B9-8A23-6CA5-5095-A4118AC83F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1956619"/>
            <a:ext cx="5422390" cy="3633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Plot 3: Histogram – Daily New Cases Distribution</a:t>
            </a:r>
            <a:endParaRPr lang="en-US"/>
          </a:p>
          <a:p>
            <a:pPr marL="0" indent="0">
              <a:buNone/>
            </a:pPr>
            <a:r>
              <a:rPr lang="en-US" b="1"/>
              <a:t>Original dataset used: </a:t>
            </a:r>
          </a:p>
          <a:p>
            <a:r>
              <a:rPr lang="en-US" err="1"/>
              <a:t>df_cases</a:t>
            </a:r>
            <a:r>
              <a:rPr lang="en-US"/>
              <a:t> (MD_COVID-19_-_Cases_by_County_2)</a:t>
            </a:r>
            <a:endParaRPr lang="en-US" b="1"/>
          </a:p>
          <a:p>
            <a:pPr marL="0" indent="0">
              <a:buNone/>
            </a:pPr>
            <a:r>
              <a:rPr lang="en-US" b="1"/>
              <a:t>Final dataset (</a:t>
            </a:r>
            <a:r>
              <a:rPr lang="en-US" b="1" err="1"/>
              <a:t>df_hist</a:t>
            </a:r>
            <a:r>
              <a:rPr lang="en-US" b="1"/>
              <a:t>):</a:t>
            </a:r>
            <a:endParaRPr lang="en-US"/>
          </a:p>
          <a:p>
            <a:pPr fontAlgn="base"/>
            <a:r>
              <a:rPr lang="en-US"/>
              <a:t>Kept one column:</a:t>
            </a:r>
            <a:r>
              <a:rPr lang="en-US" b="1"/>
              <a:t> Daily New Cases</a:t>
            </a:r>
          </a:p>
          <a:p>
            <a:pPr fontAlgn="base"/>
            <a:r>
              <a:rPr lang="en-US"/>
              <a:t>Represents number of new cases per day across Maryland</a:t>
            </a:r>
          </a:p>
        </p:txBody>
      </p:sp>
      <p:pic>
        <p:nvPicPr>
          <p:cNvPr id="6" name="Content Placeholder 5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25104326-EADE-C2E7-D8D7-CFE93D78F71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05600" y="2227263"/>
            <a:ext cx="4109884" cy="3633787"/>
          </a:xfrm>
        </p:spPr>
      </p:pic>
    </p:spTree>
    <p:extLst>
      <p:ext uri="{BB962C8B-B14F-4D97-AF65-F5344CB8AC3E}">
        <p14:creationId xmlns:p14="http://schemas.microsoft.com/office/powerpoint/2010/main" val="1275367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64AE6-B9CA-0066-FA03-FFA966A78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Histogram: code &amp;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EC16-A5CC-8683-102F-37CF6DF085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4325104" cy="363304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/>
              <a:t>Key Python steps:</a:t>
            </a:r>
            <a:endParaRPr lang="en-US"/>
          </a:p>
          <a:p>
            <a:pPr fontAlgn="base"/>
            <a:r>
              <a:rPr lang="en-US" err="1"/>
              <a:t>df_hist</a:t>
            </a:r>
            <a:r>
              <a:rPr lang="en-US"/>
              <a:t> = </a:t>
            </a:r>
            <a:r>
              <a:rPr lang="en-US" err="1"/>
              <a:t>df_cases</a:t>
            </a:r>
            <a:r>
              <a:rPr lang="en-US"/>
              <a:t>[['Daily New Cases']].copy()</a:t>
            </a:r>
          </a:p>
          <a:p>
            <a:pPr fontAlgn="base"/>
            <a:r>
              <a:rPr lang="en-US" err="1"/>
              <a:t>plt.hist</a:t>
            </a:r>
            <a:r>
              <a:rPr lang="en-US"/>
              <a:t>(</a:t>
            </a:r>
            <a:r>
              <a:rPr lang="en-US" err="1"/>
              <a:t>df_hist</a:t>
            </a:r>
            <a:r>
              <a:rPr lang="en-US"/>
              <a:t>['Daily New Cases'], bins=30)</a:t>
            </a:r>
            <a:br>
              <a:rPr lang="en-US"/>
            </a:br>
            <a:endParaRPr lang="en-US"/>
          </a:p>
          <a:p>
            <a:pPr marL="0" indent="0">
              <a:buNone/>
            </a:pPr>
            <a:r>
              <a:rPr lang="en-US" b="1"/>
              <a:t>Plot interpretation:</a:t>
            </a:r>
            <a:endParaRPr lang="en-US"/>
          </a:p>
          <a:p>
            <a:pPr fontAlgn="base"/>
            <a:r>
              <a:rPr lang="en-US"/>
              <a:t>Shows how often certain daily new case counts occurred</a:t>
            </a:r>
          </a:p>
          <a:p>
            <a:pPr fontAlgn="base"/>
            <a:r>
              <a:rPr lang="en-US"/>
              <a:t>Reveals whether most days were low, moderate, or high in new cases</a:t>
            </a:r>
          </a:p>
          <a:p>
            <a:endParaRPr lang="en-US"/>
          </a:p>
        </p:txBody>
      </p:sp>
      <p:pic>
        <p:nvPicPr>
          <p:cNvPr id="6" name="Content Placeholder 5" descr="A graph of covid-19 cases&#10;&#10;AI-generated content may be incorrect.">
            <a:extLst>
              <a:ext uri="{FF2B5EF4-FFF2-40B4-BE49-F238E27FC236}">
                <a16:creationId xmlns:a16="http://schemas.microsoft.com/office/drawing/2014/main" id="{B46C1766-5A8F-33AC-EB3C-AFB02FD7950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63613" y="2084439"/>
            <a:ext cx="6626942" cy="4286864"/>
          </a:xfrm>
        </p:spPr>
      </p:pic>
    </p:spTree>
    <p:extLst>
      <p:ext uri="{BB962C8B-B14F-4D97-AF65-F5344CB8AC3E}">
        <p14:creationId xmlns:p14="http://schemas.microsoft.com/office/powerpoint/2010/main" val="3864515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1D9E8-140E-4CE5-276C-716120D91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Scatter Plot: Data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E1E45-B811-48CB-87D9-DE47B73CF0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1986117"/>
            <a:ext cx="5422390" cy="35297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Plot 4: Scatter Plot – Vaccination vs Cases (County Level)</a:t>
            </a:r>
            <a:endParaRPr lang="en-US"/>
          </a:p>
          <a:p>
            <a:pPr marL="0" indent="0">
              <a:buNone/>
            </a:pPr>
            <a:r>
              <a:rPr lang="en-US" b="1"/>
              <a:t>Original dataset used: </a:t>
            </a:r>
          </a:p>
          <a:p>
            <a:r>
              <a:rPr lang="en-US" err="1"/>
              <a:t>df_counties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 b="1"/>
              <a:t>Final dataset (same </a:t>
            </a:r>
            <a:r>
              <a:rPr lang="en-US" b="1" err="1"/>
              <a:t>DataFrame</a:t>
            </a:r>
            <a:r>
              <a:rPr lang="en-US" b="1"/>
              <a:t>):</a:t>
            </a:r>
            <a:endParaRPr lang="en-US"/>
          </a:p>
          <a:p>
            <a:pPr fontAlgn="base"/>
            <a:r>
              <a:rPr lang="en-US"/>
              <a:t>X-axis: </a:t>
            </a:r>
            <a:r>
              <a:rPr lang="en-US" err="1"/>
              <a:t>Series_Complete_Pop_Pct</a:t>
            </a:r>
            <a:r>
              <a:rPr lang="en-US"/>
              <a:t> (completed vaccination %)</a:t>
            </a:r>
          </a:p>
          <a:p>
            <a:pPr fontAlgn="base"/>
            <a:r>
              <a:rPr lang="en-US"/>
              <a:t>Y-axis: Cumulative Cases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A698E9-C3EE-7552-8051-B2AEB7723BC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91200" y="1986116"/>
            <a:ext cx="5948516" cy="3441289"/>
          </a:xfrm>
        </p:spPr>
      </p:pic>
    </p:spTree>
    <p:extLst>
      <p:ext uri="{BB962C8B-B14F-4D97-AF65-F5344CB8AC3E}">
        <p14:creationId xmlns:p14="http://schemas.microsoft.com/office/powerpoint/2010/main" val="4272275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E862-71FC-5FA3-E6D7-D861EC2F8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Scatter plot: code &amp;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53AD5-1DFA-A6E3-702C-03498B666B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4974033" cy="36330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Key Python steps:</a:t>
            </a:r>
            <a:endParaRPr lang="en-US"/>
          </a:p>
          <a:p>
            <a:pPr fontAlgn="base"/>
            <a:r>
              <a:rPr lang="en-US" err="1"/>
              <a:t>plt.scatter</a:t>
            </a:r>
            <a:r>
              <a:rPr lang="en-US"/>
              <a:t>(</a:t>
            </a:r>
            <a:r>
              <a:rPr lang="en-US" err="1"/>
              <a:t>df_counties</a:t>
            </a:r>
            <a:r>
              <a:rPr lang="en-US"/>
              <a:t>['</a:t>
            </a:r>
            <a:r>
              <a:rPr lang="en-US" err="1"/>
              <a:t>Series_Complete_Pop_Pct</a:t>
            </a:r>
            <a:r>
              <a:rPr lang="en-US"/>
              <a:t>'], </a:t>
            </a:r>
            <a:r>
              <a:rPr lang="en-US" err="1"/>
              <a:t>df_counties</a:t>
            </a:r>
            <a:r>
              <a:rPr lang="en-US"/>
              <a:t>['Cumulative Cases '])</a:t>
            </a:r>
            <a:br>
              <a:rPr lang="en-US"/>
            </a:br>
            <a:endParaRPr lang="en-US"/>
          </a:p>
          <a:p>
            <a:pPr marL="0" indent="0">
              <a:buNone/>
            </a:pPr>
            <a:r>
              <a:rPr lang="en-US" b="1"/>
              <a:t>Plot interpretation:</a:t>
            </a:r>
            <a:endParaRPr lang="en-US"/>
          </a:p>
          <a:p>
            <a:pPr fontAlgn="base"/>
            <a:r>
              <a:rPr lang="en-US"/>
              <a:t>Each point = one county</a:t>
            </a:r>
          </a:p>
          <a:p>
            <a:pPr fontAlgn="base"/>
            <a:r>
              <a:rPr lang="en-US"/>
              <a:t>Let’s us see how case totals relate to vaccination coverage</a:t>
            </a:r>
          </a:p>
          <a:p>
            <a:pPr fontAlgn="base"/>
            <a:r>
              <a:rPr lang="en-US"/>
              <a:t>Encourages discussion about timing, population size, and county differences</a:t>
            </a:r>
          </a:p>
        </p:txBody>
      </p:sp>
      <p:pic>
        <p:nvPicPr>
          <p:cNvPr id="6" name="Content Placeholder 5" descr="A screen shot of a graph&#10;&#10;AI-generated content may be incorrect.">
            <a:extLst>
              <a:ext uri="{FF2B5EF4-FFF2-40B4-BE49-F238E27FC236}">
                <a16:creationId xmlns:a16="http://schemas.microsoft.com/office/drawing/2014/main" id="{B6728EA3-0A44-AAF5-4E77-B65DD7C2097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40361" y="1927123"/>
            <a:ext cx="5840362" cy="4522838"/>
          </a:xfrm>
        </p:spPr>
      </p:pic>
    </p:spTree>
    <p:extLst>
      <p:ext uri="{BB962C8B-B14F-4D97-AF65-F5344CB8AC3E}">
        <p14:creationId xmlns:p14="http://schemas.microsoft.com/office/powerpoint/2010/main" val="1839946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9171E-2462-C5EA-1129-5E0A9E76A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Stackplot</a:t>
            </a:r>
            <a:r>
              <a:rPr lang="en-US"/>
              <a:t>: data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54990-B6C5-C1D6-117A-CC9D51F2F8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406464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/>
              <a:t>Plot 5: Stack Plot – Vaccination &amp; Daily Cases Over Time</a:t>
            </a:r>
          </a:p>
          <a:p>
            <a:pPr marL="0" indent="0">
              <a:buNone/>
            </a:pPr>
            <a:r>
              <a:rPr lang="en-US" b="1"/>
              <a:t>Original datasets used:</a:t>
            </a:r>
            <a:endParaRPr lang="en-US"/>
          </a:p>
          <a:p>
            <a:pPr fontAlgn="base"/>
            <a:r>
              <a:rPr lang="en-US" err="1"/>
              <a:t>df_cases</a:t>
            </a:r>
            <a:r>
              <a:rPr lang="en-US"/>
              <a:t> (for Daily New Cases)</a:t>
            </a:r>
          </a:p>
          <a:p>
            <a:pPr fontAlgn="base"/>
            <a:r>
              <a:rPr lang="en-US" err="1"/>
              <a:t>df_vac</a:t>
            </a:r>
            <a:r>
              <a:rPr lang="en-US"/>
              <a:t> (for Administered_Dose1_Pop_Pct)</a:t>
            </a:r>
          </a:p>
          <a:p>
            <a:pPr marL="0" indent="0">
              <a:buNone/>
            </a:pPr>
            <a:r>
              <a:rPr lang="en-US" b="1"/>
              <a:t>Final merged dataset (</a:t>
            </a:r>
            <a:r>
              <a:rPr lang="en-US" b="1" err="1"/>
              <a:t>df_daily</a:t>
            </a:r>
            <a:r>
              <a:rPr lang="en-US" b="1"/>
              <a:t>):</a:t>
            </a:r>
          </a:p>
          <a:p>
            <a:r>
              <a:rPr lang="en-US"/>
              <a:t>Columns:</a:t>
            </a:r>
          </a:p>
          <a:p>
            <a:r>
              <a:rPr lang="en-US"/>
              <a:t>Date</a:t>
            </a:r>
          </a:p>
          <a:p>
            <a:r>
              <a:rPr lang="en-US" err="1"/>
              <a:t>Daily_New_Cases</a:t>
            </a:r>
            <a:endParaRPr lang="en-US"/>
          </a:p>
          <a:p>
            <a:r>
              <a:rPr lang="en-US"/>
              <a:t>Administered_Dose1_Pop_Pct (average across Maryland counties)</a:t>
            </a:r>
          </a:p>
          <a:p>
            <a:pPr fontAlgn="base"/>
            <a:r>
              <a:rPr lang="en-US"/>
              <a:t>Dates normalized and merged from both sheets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A34AB1-FC89-552C-96BC-59CC5D47E5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88419" y="2300748"/>
            <a:ext cx="5422388" cy="3539613"/>
          </a:xfrm>
        </p:spPr>
      </p:pic>
    </p:spTree>
    <p:extLst>
      <p:ext uri="{BB962C8B-B14F-4D97-AF65-F5344CB8AC3E}">
        <p14:creationId xmlns:p14="http://schemas.microsoft.com/office/powerpoint/2010/main" val="293582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DF78B-701D-AA3E-30F5-7B581417C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Stackplot</a:t>
            </a:r>
            <a:r>
              <a:rPr lang="en-US"/>
              <a:t>: code &amp;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C3A8F-FEE8-2D6C-B623-5E2191D679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2787" y="1986116"/>
            <a:ext cx="5260258" cy="463099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/>
              <a:t>Key Python steps:</a:t>
            </a:r>
            <a:endParaRPr lang="en-US"/>
          </a:p>
          <a:p>
            <a:pPr fontAlgn="base"/>
            <a:r>
              <a:rPr lang="en-US"/>
              <a:t>Converted </a:t>
            </a:r>
            <a:r>
              <a:rPr lang="en-US" b="1"/>
              <a:t>both</a:t>
            </a:r>
            <a:r>
              <a:rPr lang="en-US"/>
              <a:t> date columns to </a:t>
            </a:r>
            <a:r>
              <a:rPr lang="en-US" b="1"/>
              <a:t>datetime</a:t>
            </a:r>
          </a:p>
          <a:p>
            <a:pPr fontAlgn="base"/>
            <a:r>
              <a:rPr lang="en-US"/>
              <a:t>Filtered </a:t>
            </a:r>
            <a:r>
              <a:rPr lang="en-US" err="1"/>
              <a:t>df_vac</a:t>
            </a:r>
            <a:r>
              <a:rPr lang="en-US"/>
              <a:t> where </a:t>
            </a:r>
            <a:r>
              <a:rPr lang="en-US" err="1"/>
              <a:t>Recip_State</a:t>
            </a:r>
            <a:r>
              <a:rPr lang="en-US"/>
              <a:t> == 'MD'</a:t>
            </a:r>
          </a:p>
          <a:p>
            <a:pPr fontAlgn="base"/>
            <a:r>
              <a:rPr lang="en-US" err="1"/>
              <a:t>groupby</a:t>
            </a:r>
            <a:r>
              <a:rPr lang="en-US"/>
              <a:t>('Date')['Administered_Dose1_Pop_Pct'].mean() for statewide vaccination %</a:t>
            </a:r>
          </a:p>
          <a:p>
            <a:pPr fontAlgn="base"/>
            <a:r>
              <a:rPr lang="en-US"/>
              <a:t>Built </a:t>
            </a:r>
            <a:r>
              <a:rPr lang="en-US" err="1"/>
              <a:t>cases_by_date</a:t>
            </a:r>
            <a:r>
              <a:rPr lang="en-US"/>
              <a:t> from </a:t>
            </a:r>
            <a:r>
              <a:rPr lang="en-US" err="1"/>
              <a:t>df_cases</a:t>
            </a:r>
            <a:r>
              <a:rPr lang="en-US"/>
              <a:t>[['</a:t>
            </a:r>
            <a:r>
              <a:rPr lang="en-US" err="1"/>
              <a:t>DATE','Daily</a:t>
            </a:r>
            <a:r>
              <a:rPr lang="en-US"/>
              <a:t> New Cases']]</a:t>
            </a:r>
          </a:p>
          <a:p>
            <a:pPr fontAlgn="base"/>
            <a:r>
              <a:rPr lang="en-US"/>
              <a:t>Renamed and normalized Date columns</a:t>
            </a:r>
          </a:p>
          <a:p>
            <a:pPr fontAlgn="base"/>
            <a:r>
              <a:rPr lang="en-US" err="1"/>
              <a:t>pd.merge</a:t>
            </a:r>
            <a:r>
              <a:rPr lang="en-US"/>
              <a:t>(</a:t>
            </a:r>
            <a:r>
              <a:rPr lang="en-US" err="1"/>
              <a:t>cases_by_date</a:t>
            </a:r>
            <a:r>
              <a:rPr lang="en-US"/>
              <a:t>, </a:t>
            </a:r>
            <a:r>
              <a:rPr lang="en-US" err="1"/>
              <a:t>vacc_by_date</a:t>
            </a:r>
            <a:r>
              <a:rPr lang="en-US"/>
              <a:t>, on='Date', how='inner') → </a:t>
            </a:r>
            <a:r>
              <a:rPr lang="en-US" err="1"/>
              <a:t>df_daily</a:t>
            </a:r>
            <a:endParaRPr lang="en-US"/>
          </a:p>
          <a:p>
            <a:pPr fontAlgn="base"/>
            <a:r>
              <a:rPr lang="en-US"/>
              <a:t>Scaled vaccination % for visibility: </a:t>
            </a:r>
            <a:r>
              <a:rPr lang="en-US" err="1"/>
              <a:t>scaled_vacc</a:t>
            </a:r>
            <a:r>
              <a:rPr lang="en-US"/>
              <a:t> = </a:t>
            </a:r>
            <a:r>
              <a:rPr lang="en-US" err="1"/>
              <a:t>df_daily</a:t>
            </a:r>
            <a:r>
              <a:rPr lang="en-US"/>
              <a:t>['Administered_Dose1_Pop_Pct'] * 20</a:t>
            </a:r>
          </a:p>
          <a:p>
            <a:pPr fontAlgn="base"/>
            <a:r>
              <a:rPr lang="en-US"/>
              <a:t>Used </a:t>
            </a:r>
            <a:r>
              <a:rPr lang="en-US" err="1"/>
              <a:t>plt.stackplot</a:t>
            </a:r>
            <a:r>
              <a:rPr lang="en-US"/>
              <a:t>(Date, </a:t>
            </a:r>
            <a:r>
              <a:rPr lang="en-US" err="1"/>
              <a:t>scaled_vacc</a:t>
            </a:r>
            <a:r>
              <a:rPr lang="en-US"/>
              <a:t>, </a:t>
            </a:r>
            <a:r>
              <a:rPr lang="en-US" err="1"/>
              <a:t>Daily_New_Cases</a:t>
            </a:r>
            <a:r>
              <a:rPr lang="en-US"/>
              <a:t>, ...)</a:t>
            </a:r>
            <a:br>
              <a:rPr lang="en-US"/>
            </a:br>
            <a:endParaRPr lang="en-US"/>
          </a:p>
          <a:p>
            <a:pPr marL="0" indent="0" fontAlgn="base">
              <a:buNone/>
            </a:pPr>
            <a:r>
              <a:rPr lang="en-US" b="1"/>
              <a:t>Plot interpretation:</a:t>
            </a:r>
            <a:endParaRPr lang="en-US"/>
          </a:p>
          <a:p>
            <a:pPr fontAlgn="base"/>
            <a:r>
              <a:rPr lang="en-US"/>
              <a:t>Shows vaccination progress and daily new cases </a:t>
            </a:r>
            <a:r>
              <a:rPr lang="en-US" b="1"/>
              <a:t>on the same timeline</a:t>
            </a:r>
            <a:endParaRPr lang="en-US"/>
          </a:p>
          <a:p>
            <a:pPr fontAlgn="base"/>
            <a:r>
              <a:rPr lang="en-US"/>
              <a:t>Makes it easier to see how trends overlapped and changed over time</a:t>
            </a:r>
          </a:p>
          <a:p>
            <a:endParaRPr lang="en-US"/>
          </a:p>
        </p:txBody>
      </p: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CE8E8A4-77BE-6A06-C77C-CB7B43DEA7B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83045" y="1897626"/>
            <a:ext cx="5993752" cy="4630993"/>
          </a:xfrm>
        </p:spPr>
      </p:pic>
    </p:spTree>
    <p:extLst>
      <p:ext uri="{BB962C8B-B14F-4D97-AF65-F5344CB8AC3E}">
        <p14:creationId xmlns:p14="http://schemas.microsoft.com/office/powerpoint/2010/main" val="2650970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49F0B-35E6-D7A5-F90A-C488A0882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Multiplot: data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8D02F-DF28-C04D-5657-AE8DB41611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474707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Plot 6: Multiplot – Two Time Series</a:t>
            </a:r>
            <a:endParaRPr lang="en-US"/>
          </a:p>
          <a:p>
            <a:pPr marL="0" indent="0">
              <a:buNone/>
            </a:pPr>
            <a:r>
              <a:rPr lang="en-US" b="1"/>
              <a:t>Dataset used:</a:t>
            </a:r>
            <a:endParaRPr lang="en-US"/>
          </a:p>
          <a:p>
            <a:pPr fontAlgn="base"/>
            <a:r>
              <a:rPr lang="en-US"/>
              <a:t>Same </a:t>
            </a:r>
            <a:r>
              <a:rPr lang="en-US" err="1"/>
              <a:t>df_daily</a:t>
            </a:r>
            <a:r>
              <a:rPr lang="en-US"/>
              <a:t> as the stack plot</a:t>
            </a:r>
          </a:p>
          <a:p>
            <a:pPr marL="0" indent="0">
              <a:buNone/>
            </a:pPr>
            <a:r>
              <a:rPr lang="en-US" b="1"/>
              <a:t>Columns:</a:t>
            </a:r>
            <a:endParaRPr lang="en-US"/>
          </a:p>
          <a:p>
            <a:pPr fontAlgn="base"/>
            <a:r>
              <a:rPr lang="en-US"/>
              <a:t>Date</a:t>
            </a:r>
          </a:p>
          <a:p>
            <a:pPr fontAlgn="base"/>
            <a:r>
              <a:rPr lang="en-US"/>
              <a:t>Administered_Dose1_Pop_Pct</a:t>
            </a:r>
          </a:p>
          <a:p>
            <a:pPr fontAlgn="base"/>
            <a:r>
              <a:rPr lang="en-US" err="1"/>
              <a:t>Daily_New_Cases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10" name="Content Placeholder 9" descr="A screenshot of a data&#10;&#10;AI-generated content may be incorrect.">
            <a:extLst>
              <a:ext uri="{FF2B5EF4-FFF2-40B4-BE49-F238E27FC236}">
                <a16:creationId xmlns:a16="http://schemas.microsoft.com/office/drawing/2014/main" id="{0E9B9421-0203-DBFD-044B-0C3EB0FB369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945626" y="2228003"/>
            <a:ext cx="6441710" cy="3633047"/>
          </a:xfrm>
        </p:spPr>
      </p:pic>
    </p:spTree>
    <p:extLst>
      <p:ext uri="{BB962C8B-B14F-4D97-AF65-F5344CB8AC3E}">
        <p14:creationId xmlns:p14="http://schemas.microsoft.com/office/powerpoint/2010/main" val="35838975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5C2C3-A547-E2D6-5366-1E17B65A4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Multiplot: code &amp;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7E3E0-4995-6FD4-88CA-CE9054393A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70678" cy="363304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/>
              <a:t>Key Python steps:</a:t>
            </a:r>
            <a:endParaRPr lang="en-US"/>
          </a:p>
          <a:p>
            <a:pPr fontAlgn="base"/>
            <a:r>
              <a:rPr lang="en-US"/>
              <a:t>fig, (ax1, ax2) = </a:t>
            </a:r>
            <a:r>
              <a:rPr lang="en-US" err="1"/>
              <a:t>plt.subplots</a:t>
            </a:r>
            <a:r>
              <a:rPr lang="en-US"/>
              <a:t>(2, 1, </a:t>
            </a:r>
            <a:r>
              <a:rPr lang="en-US" err="1"/>
              <a:t>sharex</a:t>
            </a:r>
            <a:r>
              <a:rPr lang="en-US"/>
              <a:t>=True)</a:t>
            </a:r>
          </a:p>
          <a:p>
            <a:pPr fontAlgn="base"/>
            <a:r>
              <a:rPr lang="en-US" b="1"/>
              <a:t>Top axis:</a:t>
            </a:r>
            <a:r>
              <a:rPr lang="en-US"/>
              <a:t> ax1.plot(Date, Administered_Dose1_Pop_Pct)</a:t>
            </a:r>
          </a:p>
          <a:p>
            <a:pPr fontAlgn="base"/>
            <a:r>
              <a:rPr lang="en-US" b="1"/>
              <a:t>Bottom axis:</a:t>
            </a:r>
            <a:r>
              <a:rPr lang="en-US"/>
              <a:t> ax2.plot(Date, </a:t>
            </a:r>
            <a:r>
              <a:rPr lang="en-US" err="1"/>
              <a:t>Daily_New_Cases</a:t>
            </a:r>
            <a:r>
              <a:rPr lang="en-US"/>
              <a:t>)</a:t>
            </a:r>
            <a:br>
              <a:rPr lang="en-US"/>
            </a:br>
            <a:br>
              <a:rPr lang="en-US"/>
            </a:br>
            <a:endParaRPr lang="en-US"/>
          </a:p>
          <a:p>
            <a:pPr marL="0" indent="0">
              <a:buNone/>
            </a:pPr>
            <a:r>
              <a:rPr lang="en-US" b="1"/>
              <a:t>Plot interpretation:</a:t>
            </a:r>
            <a:endParaRPr lang="en-US"/>
          </a:p>
          <a:p>
            <a:pPr fontAlgn="base"/>
            <a:r>
              <a:rPr lang="en-US"/>
              <a:t>Separates vaccination trend and daily new case trend</a:t>
            </a:r>
          </a:p>
          <a:p>
            <a:pPr fontAlgn="base"/>
            <a:r>
              <a:rPr lang="en-US"/>
              <a:t>Easier to compare shapes and timing between the two lines</a:t>
            </a:r>
          </a:p>
          <a:p>
            <a:pPr fontAlgn="base"/>
            <a:r>
              <a:rPr lang="en-US"/>
              <a:t>Supports discussion of how long-term vaccination may relate to changes in daily cases</a:t>
            </a:r>
          </a:p>
        </p:txBody>
      </p: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FE4005C-AE40-7EE4-9A30-3AA5F741687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50194" y="1927123"/>
            <a:ext cx="5860025" cy="4768645"/>
          </a:xfrm>
        </p:spPr>
      </p:pic>
    </p:spTree>
    <p:extLst>
      <p:ext uri="{BB962C8B-B14F-4D97-AF65-F5344CB8AC3E}">
        <p14:creationId xmlns:p14="http://schemas.microsoft.com/office/powerpoint/2010/main" val="1846949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42D21-1D80-C362-82E4-24010B0AE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Tableau Plot #1: Quarterly COVID-19 Cases (Bar Chart)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C0031-15F3-AC95-C255-8660F72177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3833491" cy="3900339"/>
          </a:xfrm>
        </p:spPr>
        <p:txBody>
          <a:bodyPr>
            <a:normAutofit fontScale="85000" lnSpcReduction="10000"/>
          </a:bodyPr>
          <a:lstStyle/>
          <a:p>
            <a:r>
              <a:rPr lang="en-US"/>
              <a:t>Displays quarterly COVID-19 case totals for </a:t>
            </a:r>
            <a:r>
              <a:rPr lang="en-US" b="1"/>
              <a:t>Wicomico </a:t>
            </a:r>
            <a:r>
              <a:rPr lang="en-US"/>
              <a:t>and </a:t>
            </a:r>
            <a:r>
              <a:rPr lang="en-US" b="1"/>
              <a:t>Baltimore</a:t>
            </a:r>
            <a:r>
              <a:rPr lang="en-US"/>
              <a:t> </a:t>
            </a:r>
            <a:r>
              <a:rPr lang="en-US" b="1"/>
              <a:t>City</a:t>
            </a:r>
          </a:p>
          <a:p>
            <a:r>
              <a:rPr lang="en-US"/>
              <a:t>Columns </a:t>
            </a:r>
            <a:r>
              <a:rPr lang="en-US" b="1"/>
              <a:t>represent Year → Quarter</a:t>
            </a:r>
            <a:r>
              <a:rPr lang="en-US"/>
              <a:t> (e.g., 2020 Q1–Q4, etc.)</a:t>
            </a:r>
          </a:p>
          <a:p>
            <a:r>
              <a:rPr lang="en-US"/>
              <a:t>Bars are </a:t>
            </a:r>
            <a:r>
              <a:rPr lang="en-US" b="1"/>
              <a:t>stacked by category</a:t>
            </a:r>
            <a:r>
              <a:rPr lang="en-US"/>
              <a:t>, showing how totals shift over time</a:t>
            </a:r>
          </a:p>
          <a:p>
            <a:r>
              <a:rPr lang="en-US"/>
              <a:t>Allows comparison of case levels between two counties on a quarterly timeline</a:t>
            </a:r>
          </a:p>
          <a:p>
            <a:r>
              <a:rPr lang="en-US"/>
              <a:t>Shows how both counties experienced noticeable jumps during early pandemic surges</a:t>
            </a:r>
          </a:p>
          <a:p>
            <a:r>
              <a:rPr lang="en-US"/>
              <a:t>Highlights seasonal patterns and differences in how each county was impacted</a:t>
            </a:r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9F49BD69-1F0A-6BC9-CEDB-61CA9E7260B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513" b="2724"/>
          <a:stretch>
            <a:fillRect/>
          </a:stretch>
        </p:blipFill>
        <p:spPr bwMode="auto">
          <a:xfrm>
            <a:off x="4286866" y="1907458"/>
            <a:ext cx="7482348" cy="4513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6936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D6767-C0B5-2836-736D-30161628B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Tableau Plot #2: Daily New Cases by County (Pie Chart)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BDC6A-3544-6C17-CCDD-9CBF7BCD6C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2"/>
            <a:ext cx="4541413" cy="4152057"/>
          </a:xfrm>
        </p:spPr>
        <p:txBody>
          <a:bodyPr>
            <a:normAutofit lnSpcReduction="10000"/>
          </a:bodyPr>
          <a:lstStyle/>
          <a:p>
            <a:r>
              <a:rPr lang="en-US"/>
              <a:t>Pie chart </a:t>
            </a:r>
            <a:r>
              <a:rPr lang="en-US" b="1"/>
              <a:t>shows share of total daily new cases </a:t>
            </a:r>
            <a:r>
              <a:rPr lang="en-US"/>
              <a:t>contributed by each Maryland county</a:t>
            </a:r>
          </a:p>
          <a:p>
            <a:r>
              <a:rPr lang="en-US"/>
              <a:t>Slice size = </a:t>
            </a:r>
            <a:r>
              <a:rPr lang="en-US" b="1"/>
              <a:t>sum of all daily new cases </a:t>
            </a:r>
            <a:r>
              <a:rPr lang="en-US"/>
              <a:t>in the dataset for that county</a:t>
            </a:r>
          </a:p>
          <a:p>
            <a:r>
              <a:rPr lang="en-US"/>
              <a:t>Highlights counties with the highest overall impact</a:t>
            </a:r>
          </a:p>
          <a:p>
            <a:r>
              <a:rPr lang="en-US"/>
              <a:t>Baltimore City and Baltimore County contribute the largest portions</a:t>
            </a:r>
          </a:p>
          <a:p>
            <a:r>
              <a:rPr lang="en-US"/>
              <a:t>Smaller counties show noticeably smaller slices, reflecting lower total case counts</a:t>
            </a:r>
          </a:p>
          <a:p>
            <a:r>
              <a:rPr lang="en-US"/>
              <a:t>Offers a clear “big-picture” view of how heavily each area was affected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8FB635-8381-128E-0DA7-1330733E0F2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9816" b="5953"/>
          <a:stretch>
            <a:fillRect/>
          </a:stretch>
        </p:blipFill>
        <p:spPr>
          <a:xfrm>
            <a:off x="5122606" y="1946787"/>
            <a:ext cx="6646607" cy="4807974"/>
          </a:xfrm>
        </p:spPr>
      </p:pic>
    </p:spTree>
    <p:extLst>
      <p:ext uri="{BB962C8B-B14F-4D97-AF65-F5344CB8AC3E}">
        <p14:creationId xmlns:p14="http://schemas.microsoft.com/office/powerpoint/2010/main" val="33533863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F5C32-4D6D-9894-E8A6-01885B3B7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CTEC 128 Paper Summary: Member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0CAC0-CFBC-79BE-685D-C163F1EE9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845759"/>
            <a:ext cx="11029615" cy="367830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chemeClr val="tx1"/>
                </a:solidFill>
              </a:rPr>
              <a:t>Topic: </a:t>
            </a:r>
          </a:p>
          <a:p>
            <a:pPr marL="305435" indent="-305435">
              <a:buFont typeface="Wingdings 2"/>
              <a:buChar char=""/>
            </a:pP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Occupation</a:t>
            </a:r>
            <a:r>
              <a:rPr lang="en-US" sz="1200">
                <a:solidFill>
                  <a:srgbClr val="000000"/>
                </a:solidFill>
                <a:latin typeface="Gill Sans MT"/>
              </a:rPr>
              <a:t> of African American Maryland residents aged 18-62 with a focus on gender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ill Sans MT"/>
              </a:rPr>
              <a:t>Dataset</a:t>
            </a:r>
          </a:p>
          <a:p>
            <a:pPr marL="305435" indent="-305435">
              <a:buFont typeface="Wingdings 2"/>
              <a:buChar char=""/>
            </a:pPr>
            <a:r>
              <a:rPr lang="en-US" sz="1200" b="1">
                <a:solidFill>
                  <a:srgbClr val="000000"/>
                </a:solidFill>
                <a:ea typeface="+mn-lt"/>
                <a:cs typeface="+mn-lt"/>
              </a:rPr>
              <a:t>Source:</a:t>
            </a: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 U.S. Census Public Use Microdata Sample (PUMS)</a:t>
            </a:r>
            <a:endParaRPr lang="en-US" sz="1200">
              <a:solidFill>
                <a:srgbClr val="000000"/>
              </a:solidFill>
            </a:endParaRPr>
          </a:p>
          <a:p>
            <a:pPr marL="305435" indent="-305435">
              <a:buFont typeface="Wingdings 2"/>
              <a:buChar char=""/>
            </a:pPr>
            <a:r>
              <a:rPr lang="en-US" sz="1200" b="1">
                <a:solidFill>
                  <a:srgbClr val="000000"/>
                </a:solidFill>
                <a:ea typeface="+mn-lt"/>
                <a:cs typeface="+mn-lt"/>
              </a:rPr>
              <a:t>Population filtered:</a:t>
            </a:r>
            <a:endParaRPr lang="en-US" sz="1200"/>
          </a:p>
          <a:p>
            <a:pPr marL="305435" indent="-305435">
              <a:buFont typeface="Wingdings 2"/>
              <a:buChar char=""/>
            </a:pP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Race: African American</a:t>
            </a:r>
            <a:endParaRPr lang="en-US" sz="1200"/>
          </a:p>
          <a:p>
            <a:pPr marL="305435" indent="-305435">
              <a:buFont typeface="Wingdings 2"/>
              <a:buChar char=""/>
            </a:pP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Age: 18–65 (working-age population)</a:t>
            </a:r>
            <a:endParaRPr lang="en-US" sz="1200"/>
          </a:p>
          <a:p>
            <a:pPr marL="305435" indent="-305435">
              <a:buFont typeface="Wingdings 2"/>
              <a:buChar char=""/>
            </a:pP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Employment status: Employed individuals only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ill Sans MT"/>
              </a:rPr>
              <a:t>Key steps:</a:t>
            </a:r>
          </a:p>
          <a:p>
            <a:pPr marL="305435" indent="-305435">
              <a:buFont typeface="Wingdings 2"/>
              <a:buChar char=""/>
            </a:pP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Filtered dataset to include African American respondents aged 18–65 who were employed</a:t>
            </a:r>
            <a:endParaRPr lang="en-US" sz="1200"/>
          </a:p>
          <a:p>
            <a:pPr marL="305435" indent="-305435">
              <a:buFont typeface="Wingdings 2"/>
              <a:buChar char=""/>
            </a:pP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Cleaned data by removing blanks, standardizing occupation labels, and grouping similar job titles</a:t>
            </a:r>
            <a:endParaRPr lang="en-US" sz="1200"/>
          </a:p>
          <a:p>
            <a:pPr marL="305435" indent="-305435">
              <a:buFont typeface="Wingdings 2"/>
              <a:buChar char=""/>
            </a:pP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Consolidated occupations into broader categories (healthcare, service, management, transportation, education, administrative support)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ill Sans MT"/>
              </a:rPr>
              <a:t>Main Findings</a:t>
            </a:r>
          </a:p>
          <a:p>
            <a:pPr marL="305435" indent="-305435">
              <a:buFont typeface="Wingdings 2"/>
              <a:buChar char=""/>
            </a:pP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African Americans are most concentrated in service, transportation, education, and healthcare support roles</a:t>
            </a:r>
            <a:endParaRPr lang="en-US" sz="1200"/>
          </a:p>
          <a:p>
            <a:pPr marL="305435" indent="-305435">
              <a:buFont typeface="Wingdings 2"/>
              <a:buChar char=""/>
            </a:pP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Managerial and healthcare occupations showed higher mean and median earnings</a:t>
            </a:r>
            <a:endParaRPr lang="en-US" sz="1200"/>
          </a:p>
          <a:p>
            <a:pPr marL="305435" indent="-305435">
              <a:buFont typeface="Wingdings 2"/>
              <a:buChar char=""/>
            </a:pP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Service and transportation roles reflected lower earnings overall</a:t>
            </a:r>
            <a:endParaRPr lang="en-US" sz="1200"/>
          </a:p>
          <a:p>
            <a:pPr marL="305435" indent="-305435">
              <a:buFont typeface="Wingdings 2"/>
              <a:buChar char=""/>
            </a:pPr>
            <a:endParaRPr lang="en-US" sz="1400" b="1"/>
          </a:p>
          <a:p>
            <a:pPr marL="305435" indent="-305435">
              <a:buFont typeface="Wingdings 2"/>
              <a:buChar char=""/>
            </a:pPr>
            <a:endParaRPr lang="en-US" sz="1400">
              <a:solidFill>
                <a:srgbClr val="000000"/>
              </a:solidFill>
              <a:latin typeface="Gill Sans MT"/>
            </a:endParaRPr>
          </a:p>
          <a:p>
            <a:pPr marL="0" indent="0">
              <a:buNone/>
            </a:pPr>
            <a:endParaRPr lang="en-US" sz="1400">
              <a:solidFill>
                <a:srgbClr val="000000"/>
              </a:solidFill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42243576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5AC02-0EB7-C013-BDAA-E5DA5605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CTEC 298 Coursework summary (member 2)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41EAD2-AAC8-4546-B58A-6B895F2268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6056" y="1715956"/>
            <a:ext cx="11314752" cy="5266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b="1"/>
              <a:t>Coursework Summary </a:t>
            </a:r>
          </a:p>
          <a:p>
            <a:r>
              <a:rPr lang="en-US" sz="1400" b="1"/>
              <a:t>Objective:</a:t>
            </a:r>
            <a:r>
              <a:rPr lang="en-US" sz="1400"/>
              <a:t> Examined occupational representation and earnings among African Americans aged 18–65 using Census PUMS data.</a:t>
            </a:r>
          </a:p>
          <a:p>
            <a:r>
              <a:rPr lang="en-US" sz="1400" b="1"/>
              <a:t>Data Preparation:</a:t>
            </a:r>
            <a:endParaRPr lang="en-US" sz="1400"/>
          </a:p>
          <a:p>
            <a:pPr lvl="1"/>
            <a:r>
              <a:rPr lang="en-US" sz="1400"/>
              <a:t>Filtered for African American working-age adults.</a:t>
            </a:r>
          </a:p>
          <a:p>
            <a:pPr lvl="1"/>
            <a:r>
              <a:rPr lang="en-US" sz="1400"/>
              <a:t>Cleaned occupation labels and grouped jobs into major sectors.</a:t>
            </a:r>
          </a:p>
          <a:p>
            <a:r>
              <a:rPr lang="en-US" sz="1400" b="1"/>
              <a:t>Methods &amp; Visuals:</a:t>
            </a:r>
            <a:endParaRPr lang="en-US" sz="1400"/>
          </a:p>
          <a:p>
            <a:pPr lvl="1"/>
            <a:r>
              <a:rPr lang="en-US" sz="1400"/>
              <a:t>Bar and pie charts to show the most common jobs and sector distribution.</a:t>
            </a:r>
          </a:p>
          <a:p>
            <a:pPr lvl="1"/>
            <a:r>
              <a:rPr lang="en-US" sz="1400"/>
              <a:t>Histogram and scatter plots to analyze wage trends and age-income relationships.</a:t>
            </a:r>
          </a:p>
          <a:p>
            <a:r>
              <a:rPr lang="en-US" sz="1400" b="1"/>
              <a:t>Key Findings:</a:t>
            </a:r>
            <a:endParaRPr lang="en-US" sz="1400"/>
          </a:p>
          <a:p>
            <a:pPr lvl="1"/>
            <a:r>
              <a:rPr lang="en-US" sz="1400"/>
              <a:t>Representation spans many fields but clusters in service, healthcare support, education, and transportation.</a:t>
            </a:r>
          </a:p>
          <a:p>
            <a:pPr lvl="1"/>
            <a:r>
              <a:rPr lang="en-US" sz="1400"/>
              <a:t>Higher earnings seen in management and healthcare roles; lower wages in service-related sectors.</a:t>
            </a:r>
          </a:p>
          <a:p>
            <a:pPr lvl="1"/>
            <a:r>
              <a:rPr lang="en-US" sz="1400"/>
              <a:t>Patterns reveal equity gaps and limited access to higher-earning positions.</a:t>
            </a:r>
          </a:p>
          <a:p>
            <a:r>
              <a:rPr lang="en-US" sz="1400" b="1"/>
              <a:t>Relevance to Symbolic Computation / Big Data:</a:t>
            </a:r>
            <a:endParaRPr lang="en-US" sz="1400"/>
          </a:p>
          <a:p>
            <a:pPr lvl="1"/>
            <a:r>
              <a:rPr lang="en-US" sz="1400"/>
              <a:t>Demonstrates cleaning, transforming, and analyzing large datasets.</a:t>
            </a:r>
          </a:p>
          <a:p>
            <a:pPr lvl="1"/>
            <a:r>
              <a:rPr lang="en-US" sz="1400"/>
              <a:t>Shows how visualization reveals demographic and occupational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147701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97616-6C5F-C613-641F-D5388ADCB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 Plot: Code &amp; Visualization </a:t>
            </a:r>
          </a:p>
        </p:txBody>
      </p:sp>
      <p:pic>
        <p:nvPicPr>
          <p:cNvPr id="4" name="Content Placeholder 3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9C1F2FA4-FB1A-FCF9-B524-331A345999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68323" y="1824787"/>
            <a:ext cx="4238625" cy="1924050"/>
          </a:xfrm>
          <a:prstGeom prst="rect">
            <a:avLst/>
          </a:prstGeom>
        </p:spPr>
      </p:pic>
      <p:pic>
        <p:nvPicPr>
          <p:cNvPr id="5" name="Picture 4" descr="A graph of blue bars with white text&#10;&#10;AI-generated content may be incorrect.">
            <a:extLst>
              <a:ext uri="{FF2B5EF4-FFF2-40B4-BE49-F238E27FC236}">
                <a16:creationId xmlns:a16="http://schemas.microsoft.com/office/drawing/2014/main" id="{F4746C8C-48BC-8854-3171-8F157D026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465" y="3860127"/>
            <a:ext cx="4052342" cy="27180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1C8A13-5FE6-72B5-944A-E822DB1645B0}"/>
              </a:ext>
            </a:extLst>
          </p:cNvPr>
          <p:cNvSpPr txBox="1"/>
          <p:nvPr/>
        </p:nvSpPr>
        <p:spPr>
          <a:xfrm>
            <a:off x="242126" y="1948369"/>
            <a:ext cx="7003558" cy="44996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/>
              <a:t>Data Used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3D3D3D"/>
                </a:solidFill>
                <a:ea typeface="+mn-lt"/>
                <a:cs typeface="+mn-lt"/>
              </a:rPr>
              <a:t>Dataset loaded from </a:t>
            </a:r>
            <a:r>
              <a:rPr lang="en-US" sz="1600" b="1">
                <a:solidFill>
                  <a:srgbClr val="3D3D3D"/>
                </a:solidFill>
                <a:ea typeface="+mn-lt"/>
                <a:cs typeface="+mn-lt"/>
              </a:rPr>
              <a:t>“Data Visualization.csv”</a:t>
            </a:r>
            <a:r>
              <a:rPr lang="en-US" sz="1600">
                <a:solidFill>
                  <a:srgbClr val="3D3D3D"/>
                </a:solidFill>
                <a:ea typeface="+mn-lt"/>
                <a:cs typeface="+mn-lt"/>
              </a:rPr>
              <a:t>.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3D3D3D"/>
                </a:solidFill>
                <a:ea typeface="+mn-lt"/>
                <a:cs typeface="+mn-lt"/>
              </a:rPr>
              <a:t>Key column: </a:t>
            </a:r>
            <a:r>
              <a:rPr lang="en-US" sz="1600">
                <a:solidFill>
                  <a:srgbClr val="3D3D3D"/>
                </a:solidFill>
                <a:latin typeface="Gill Sans MT"/>
              </a:rPr>
              <a:t>OCCP</a:t>
            </a:r>
            <a:endParaRPr lang="en-US" sz="1600">
              <a:latin typeface="Gill Sans MT"/>
            </a:endParaRPr>
          </a:p>
          <a:p>
            <a:pPr marL="457200">
              <a:buFont typeface="Arial"/>
              <a:buChar char="•"/>
            </a:pPr>
            <a:r>
              <a:rPr lang="en-US" sz="1600">
                <a:solidFill>
                  <a:srgbClr val="3D3D3D"/>
                </a:solidFill>
                <a:ea typeface="+mn-lt"/>
                <a:cs typeface="+mn-lt"/>
              </a:rPr>
              <a:t>Represents occupation codes for individuals. </a:t>
            </a:r>
            <a:r>
              <a:rPr lang="en-US" sz="1600" b="1"/>
              <a:t> </a:t>
            </a:r>
          </a:p>
          <a:p>
            <a:pPr lvl="1"/>
            <a:endParaRPr lang="en-US" sz="1600">
              <a:solidFill>
                <a:srgbClr val="000000"/>
              </a:solidFill>
            </a:endParaRPr>
          </a:p>
          <a:p>
            <a:r>
              <a:rPr lang="en-US" sz="1600" b="1"/>
              <a:t> Key Python Steps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Loaded the dataset using </a:t>
            </a:r>
            <a:r>
              <a:rPr lang="en-US" sz="1600" err="1">
                <a:latin typeface="Gill Sans MT"/>
              </a:rPr>
              <a:t>pd.read_csv</a:t>
            </a:r>
            <a:r>
              <a:rPr lang="en-US" sz="1600">
                <a:latin typeface="Gill Sans MT"/>
              </a:rPr>
              <a:t>()</a:t>
            </a:r>
            <a:r>
              <a:rPr lang="en-US" sz="1600">
                <a:ea typeface="+mn-lt"/>
                <a:cs typeface="+mn-lt"/>
              </a:rPr>
              <a:t>.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Counted how many times each occupation appears with </a:t>
            </a:r>
            <a:r>
              <a:rPr lang="en-US" sz="1600" err="1">
                <a:latin typeface="Gill Sans MT"/>
              </a:rPr>
              <a:t>value_counts</a:t>
            </a:r>
            <a:r>
              <a:rPr lang="en-US" sz="1600">
                <a:latin typeface="Gill Sans MT"/>
              </a:rPr>
              <a:t>()</a:t>
            </a:r>
            <a:r>
              <a:rPr lang="en-US" sz="1600">
                <a:ea typeface="+mn-lt"/>
                <a:cs typeface="+mn-lt"/>
              </a:rPr>
              <a:t>.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Selected the </a:t>
            </a:r>
            <a:r>
              <a:rPr lang="en-US" sz="1600" b="1">
                <a:ea typeface="+mn-lt"/>
                <a:cs typeface="+mn-lt"/>
              </a:rPr>
              <a:t>top 10 most common occupations</a:t>
            </a:r>
            <a:r>
              <a:rPr lang="en-US" sz="1600">
                <a:ea typeface="+mn-lt"/>
                <a:cs typeface="+mn-lt"/>
              </a:rPr>
              <a:t> using </a:t>
            </a:r>
            <a:r>
              <a:rPr lang="en-US" sz="1600">
                <a:latin typeface="Gill Sans MT"/>
              </a:rPr>
              <a:t>.head(10)</a:t>
            </a:r>
            <a:r>
              <a:rPr lang="en-US" sz="1600">
                <a:ea typeface="+mn-lt"/>
                <a:cs typeface="+mn-lt"/>
              </a:rPr>
              <a:t>.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Plotted the results as a </a:t>
            </a:r>
            <a:r>
              <a:rPr lang="en-US" sz="1600" b="1">
                <a:ea typeface="+mn-lt"/>
                <a:cs typeface="+mn-lt"/>
              </a:rPr>
              <a:t>bar chart</a:t>
            </a:r>
            <a:r>
              <a:rPr lang="en-US" sz="1600">
                <a:ea typeface="+mn-lt"/>
                <a:cs typeface="+mn-lt"/>
              </a:rPr>
              <a:t> with labels and a title.</a:t>
            </a:r>
            <a:endParaRPr lang="en-US" sz="1600"/>
          </a:p>
          <a:p>
            <a:br>
              <a:rPr lang="en-US" sz="1600"/>
            </a:br>
            <a:endParaRPr lang="en-US" sz="1600"/>
          </a:p>
          <a:p>
            <a:r>
              <a:rPr lang="en-US" sz="1600" b="1"/>
              <a:t>Plot Interpretation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3D3D3D"/>
                </a:solidFill>
                <a:ea typeface="+mn-lt"/>
                <a:cs typeface="+mn-lt"/>
              </a:rPr>
              <a:t>Displays the </a:t>
            </a:r>
            <a:r>
              <a:rPr lang="en-US" sz="1600" b="1">
                <a:solidFill>
                  <a:srgbClr val="3D3D3D"/>
                </a:solidFill>
                <a:ea typeface="+mn-lt"/>
                <a:cs typeface="+mn-lt"/>
              </a:rPr>
              <a:t>10 most frequent occupations</a:t>
            </a:r>
            <a:r>
              <a:rPr lang="en-US" sz="1600">
                <a:solidFill>
                  <a:srgbClr val="3D3D3D"/>
                </a:solidFill>
                <a:ea typeface="+mn-lt"/>
                <a:cs typeface="+mn-lt"/>
              </a:rPr>
              <a:t> in the dataset.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3D3D3D"/>
                </a:solidFill>
                <a:ea typeface="+mn-lt"/>
                <a:cs typeface="+mn-lt"/>
              </a:rPr>
              <a:t>Taller bars represent jobs with </a:t>
            </a:r>
            <a:r>
              <a:rPr lang="en-US" sz="1600" b="1">
                <a:solidFill>
                  <a:srgbClr val="3D3D3D"/>
                </a:solidFill>
                <a:ea typeface="+mn-lt"/>
                <a:cs typeface="+mn-lt"/>
              </a:rPr>
              <a:t>more individuals</a:t>
            </a:r>
            <a:r>
              <a:rPr lang="en-US" sz="1600">
                <a:solidFill>
                  <a:srgbClr val="3D3D3D"/>
                </a:solidFill>
                <a:ea typeface="+mn-lt"/>
                <a:cs typeface="+mn-lt"/>
              </a:rPr>
              <a:t>.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3D3D3D"/>
                </a:solidFill>
                <a:ea typeface="+mn-lt"/>
                <a:cs typeface="+mn-lt"/>
              </a:rPr>
              <a:t>Highlights occupational concentration  a few codes dominate the workforce.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3D3D3D"/>
                </a:solidFill>
                <a:ea typeface="+mn-lt"/>
                <a:cs typeface="+mn-lt"/>
              </a:rPr>
              <a:t>Useful for identifying </a:t>
            </a:r>
            <a:r>
              <a:rPr lang="en-US" sz="1600" b="1">
                <a:solidFill>
                  <a:srgbClr val="3D3D3D"/>
                </a:solidFill>
                <a:ea typeface="+mn-lt"/>
                <a:cs typeface="+mn-lt"/>
              </a:rPr>
              <a:t>dominant job categories</a:t>
            </a:r>
            <a:r>
              <a:rPr lang="en-US" sz="1600">
                <a:solidFill>
                  <a:srgbClr val="3D3D3D"/>
                </a:solidFill>
                <a:ea typeface="+mn-lt"/>
                <a:cs typeface="+mn-lt"/>
              </a:rPr>
              <a:t> within the population.</a:t>
            </a:r>
            <a:endParaRPr lang="en-US" sz="1600"/>
          </a:p>
          <a:p>
            <a:pPr>
              <a:spcBef>
                <a:spcPct val="20000"/>
              </a:spcBef>
              <a:spcAft>
                <a:spcPts val="600"/>
              </a:spcAft>
            </a:pPr>
            <a:endParaRPr lang="en-US" sz="1200" b="1">
              <a:solidFill>
                <a:srgbClr val="3D3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72361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B58C1-4EEB-9ABF-55DA-F59C3C00B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Pie chart: code &amp; VISUALIZATION </a:t>
            </a:r>
          </a:p>
        </p:txBody>
      </p:sp>
      <p:pic>
        <p:nvPicPr>
          <p:cNvPr id="4" name="Content Placeholder 3" descr="A computer code with text&#10;&#10;AI-generated content may be incorrect.">
            <a:extLst>
              <a:ext uri="{FF2B5EF4-FFF2-40B4-BE49-F238E27FC236}">
                <a16:creationId xmlns:a16="http://schemas.microsoft.com/office/drawing/2014/main" id="{25ECE47B-F27B-C4F3-7A5F-61C2D0CBC3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72732" y="1877479"/>
            <a:ext cx="4038600" cy="1009650"/>
          </a:xfrm>
          <a:prstGeom prst="rect">
            <a:avLst/>
          </a:prstGeom>
        </p:spPr>
      </p:pic>
      <p:pic>
        <p:nvPicPr>
          <p:cNvPr id="5" name="Picture 4" descr="A pie chart with numbers and text&#10;&#10;AI-generated content may be incorrect.">
            <a:extLst>
              <a:ext uri="{FF2B5EF4-FFF2-40B4-BE49-F238E27FC236}">
                <a16:creationId xmlns:a16="http://schemas.microsoft.com/office/drawing/2014/main" id="{D8AAF0B3-FC59-D159-161B-C2435F741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710" y="3835412"/>
            <a:ext cx="5109355" cy="26132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D59CB8-7F3E-DC20-38CC-C2DF592DF517}"/>
              </a:ext>
            </a:extLst>
          </p:cNvPr>
          <p:cNvSpPr txBox="1"/>
          <p:nvPr/>
        </p:nvSpPr>
        <p:spPr>
          <a:xfrm>
            <a:off x="444238" y="1965503"/>
            <a:ext cx="6213522" cy="45704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/>
              <a:t>Data Used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Dataset contains an </a:t>
            </a:r>
            <a:r>
              <a:rPr lang="en-US" sz="1400" b="1">
                <a:ea typeface="+mn-lt"/>
                <a:cs typeface="+mn-lt"/>
              </a:rPr>
              <a:t>occupation column (</a:t>
            </a:r>
            <a:r>
              <a:rPr lang="en-US" sz="1400" b="1">
                <a:latin typeface="Consolas"/>
              </a:rPr>
              <a:t>OCCP</a:t>
            </a:r>
            <a:r>
              <a:rPr lang="en-US" sz="1400" b="1">
                <a:ea typeface="+mn-lt"/>
                <a:cs typeface="+mn-lt"/>
              </a:rPr>
              <a:t>)</a:t>
            </a:r>
            <a:r>
              <a:rPr lang="en-US" sz="1400">
                <a:ea typeface="+mn-lt"/>
                <a:cs typeface="+mn-lt"/>
              </a:rPr>
              <a:t>.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Each value represents a coded occupation for an individual.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Analysis focuses on </a:t>
            </a:r>
            <a:r>
              <a:rPr lang="en-US" sz="1400" b="1">
                <a:ea typeface="+mn-lt"/>
                <a:cs typeface="+mn-lt"/>
              </a:rPr>
              <a:t>the top 5 occupations by frequency</a:t>
            </a:r>
            <a:r>
              <a:rPr lang="en-US" sz="1400">
                <a:ea typeface="+mn-lt"/>
                <a:cs typeface="+mn-lt"/>
              </a:rPr>
              <a:t>.</a:t>
            </a:r>
            <a:endParaRPr lang="en-US" sz="1400"/>
          </a:p>
          <a:p>
            <a:br>
              <a:rPr lang="en-US" sz="1400"/>
            </a:br>
            <a:endParaRPr lang="en-US" sz="1400"/>
          </a:p>
          <a:p>
            <a:r>
              <a:rPr lang="en-US" sz="1400" b="1"/>
              <a:t>Key Python Steps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Used </a:t>
            </a:r>
            <a:r>
              <a:rPr lang="en-US" sz="1400" err="1">
                <a:latin typeface="Consolas"/>
              </a:rPr>
              <a:t>value_counts</a:t>
            </a:r>
            <a:r>
              <a:rPr lang="en-US" sz="1400">
                <a:latin typeface="Consolas"/>
              </a:rPr>
              <a:t>()</a:t>
            </a:r>
            <a:r>
              <a:rPr lang="en-US" sz="1400">
                <a:ea typeface="+mn-lt"/>
                <a:cs typeface="+mn-lt"/>
              </a:rPr>
              <a:t> to calculate </a:t>
            </a:r>
            <a:r>
              <a:rPr lang="en-US" sz="1400" b="1">
                <a:ea typeface="+mn-lt"/>
                <a:cs typeface="+mn-lt"/>
              </a:rPr>
              <a:t>how many people are in each occupation</a:t>
            </a:r>
            <a:r>
              <a:rPr lang="en-US" sz="1400">
                <a:ea typeface="+mn-lt"/>
                <a:cs typeface="+mn-lt"/>
              </a:rPr>
              <a:t>.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Selected the </a:t>
            </a:r>
            <a:r>
              <a:rPr lang="en-US" sz="1400" b="1">
                <a:ea typeface="+mn-lt"/>
                <a:cs typeface="+mn-lt"/>
              </a:rPr>
              <a:t>top 5 occupations</a:t>
            </a:r>
            <a:r>
              <a:rPr lang="en-US" sz="1400">
                <a:ea typeface="+mn-lt"/>
                <a:cs typeface="+mn-lt"/>
              </a:rPr>
              <a:t> using </a:t>
            </a:r>
            <a:r>
              <a:rPr lang="en-US" sz="1400">
                <a:latin typeface="Consolas"/>
              </a:rPr>
              <a:t>.head(5)</a:t>
            </a:r>
            <a:r>
              <a:rPr lang="en-US" sz="1400">
                <a:ea typeface="+mn-lt"/>
                <a:cs typeface="+mn-lt"/>
              </a:rPr>
              <a:t>.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Created a </a:t>
            </a:r>
            <a:r>
              <a:rPr lang="en-US" sz="1400" b="1">
                <a:ea typeface="+mn-lt"/>
                <a:cs typeface="+mn-lt"/>
              </a:rPr>
              <a:t>pie chart</a:t>
            </a:r>
            <a:r>
              <a:rPr lang="en-US" sz="1400">
                <a:ea typeface="+mn-lt"/>
                <a:cs typeface="+mn-lt"/>
              </a:rPr>
              <a:t> to show each occupation’s proportional share.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Used </a:t>
            </a:r>
            <a:r>
              <a:rPr lang="en-US" sz="1400" err="1">
                <a:latin typeface="Consolas"/>
              </a:rPr>
              <a:t>autopct</a:t>
            </a:r>
            <a:r>
              <a:rPr lang="en-US" sz="1400">
                <a:latin typeface="Consolas"/>
              </a:rPr>
              <a:t>='%1.1f%%'</a:t>
            </a:r>
            <a:r>
              <a:rPr lang="en-US" sz="1400">
                <a:ea typeface="+mn-lt"/>
                <a:cs typeface="+mn-lt"/>
              </a:rPr>
              <a:t> to display percentage values on the chart.</a:t>
            </a:r>
            <a:endParaRPr lang="en-US" sz="1400"/>
          </a:p>
          <a:p>
            <a:br>
              <a:rPr lang="en-US" sz="1400"/>
            </a:br>
            <a:endParaRPr lang="en-US" sz="1400"/>
          </a:p>
          <a:p>
            <a:r>
              <a:rPr lang="en-US" sz="1400" b="1"/>
              <a:t>Plot Interpretation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Pie chart shows </a:t>
            </a:r>
            <a:r>
              <a:rPr lang="en-US" sz="1400" b="1">
                <a:ea typeface="+mn-lt"/>
                <a:cs typeface="+mn-lt"/>
              </a:rPr>
              <a:t>how the five most common occupations compare proportionally</a:t>
            </a:r>
            <a:r>
              <a:rPr lang="en-US" sz="1400">
                <a:ea typeface="+mn-lt"/>
                <a:cs typeface="+mn-lt"/>
              </a:rPr>
              <a:t>.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Larger slices represent occupations with </a:t>
            </a:r>
            <a:r>
              <a:rPr lang="en-US" sz="1400" b="1">
                <a:ea typeface="+mn-lt"/>
                <a:cs typeface="+mn-lt"/>
              </a:rPr>
              <a:t>more people</a:t>
            </a:r>
            <a:r>
              <a:rPr lang="en-US" sz="1400">
                <a:ea typeface="+mn-lt"/>
                <a:cs typeface="+mn-lt"/>
              </a:rPr>
              <a:t>.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Highlights that certain occupations make up a </a:t>
            </a:r>
            <a:r>
              <a:rPr lang="en-US" sz="1400" b="1">
                <a:ea typeface="+mn-lt"/>
                <a:cs typeface="+mn-lt"/>
              </a:rPr>
              <a:t>significant share</a:t>
            </a:r>
            <a:r>
              <a:rPr lang="en-US" sz="1400">
                <a:ea typeface="+mn-lt"/>
                <a:cs typeface="+mn-lt"/>
              </a:rPr>
              <a:t> of the dataset.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Helps visualize </a:t>
            </a:r>
            <a:r>
              <a:rPr lang="en-US" sz="1400" b="1">
                <a:ea typeface="+mn-lt"/>
                <a:cs typeface="+mn-lt"/>
              </a:rPr>
              <a:t>dominance or balance</a:t>
            </a:r>
            <a:r>
              <a:rPr lang="en-US" sz="1400">
                <a:ea typeface="+mn-lt"/>
                <a:cs typeface="+mn-lt"/>
              </a:rPr>
              <a:t> between major occupation categories.</a:t>
            </a:r>
            <a:endParaRPr lang="en-US" sz="1400"/>
          </a:p>
          <a:p>
            <a:pPr algn="l"/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233923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24A0D-438D-D9D6-BA48-6ECD1D6E9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Histogram: code &amp; VISUALIZATION </a:t>
            </a:r>
          </a:p>
        </p:txBody>
      </p:sp>
      <p:pic>
        <p:nvPicPr>
          <p:cNvPr id="4" name="Content Placeholder 3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1BAD86F8-D04A-BECA-DD47-7F308096B3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41530" y="1848044"/>
            <a:ext cx="3969278" cy="1898350"/>
          </a:xfrm>
          <a:prstGeom prst="rect">
            <a:avLst/>
          </a:prstGeom>
        </p:spPr>
      </p:pic>
      <p:pic>
        <p:nvPicPr>
          <p:cNvPr id="5" name="Picture 4" descr="A graph of age distribution&#10;&#10;AI-generated content may be incorrect.">
            <a:extLst>
              <a:ext uri="{FF2B5EF4-FFF2-40B4-BE49-F238E27FC236}">
                <a16:creationId xmlns:a16="http://schemas.microsoft.com/office/drawing/2014/main" id="{445D8CEB-2B87-40BE-A8C4-9C7423849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853" y="3689859"/>
            <a:ext cx="5747350" cy="25981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D00B68-8109-95E5-518F-7FDF0EEC03FC}"/>
              </a:ext>
            </a:extLst>
          </p:cNvPr>
          <p:cNvSpPr txBox="1"/>
          <p:nvPr/>
        </p:nvSpPr>
        <p:spPr>
          <a:xfrm>
            <a:off x="458873" y="2022061"/>
            <a:ext cx="5745265" cy="43704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/>
              <a:t> </a:t>
            </a:r>
            <a:r>
              <a:rPr lang="en-US" sz="1400" b="1"/>
              <a:t>Data Used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Dataset includes an </a:t>
            </a:r>
            <a:r>
              <a:rPr lang="en-US" sz="1400" b="1">
                <a:ea typeface="+mn-lt"/>
                <a:cs typeface="+mn-lt"/>
              </a:rPr>
              <a:t>AGEP column</a:t>
            </a:r>
            <a:r>
              <a:rPr lang="en-US" sz="1400">
                <a:ea typeface="+mn-lt"/>
                <a:cs typeface="+mn-lt"/>
              </a:rPr>
              <a:t> representing individual ages.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Ages are assumed to be within a working-age range (18–65).</a:t>
            </a:r>
            <a:endParaRPr lang="en-US" sz="1400"/>
          </a:p>
          <a:p>
            <a:br>
              <a:rPr lang="en-US" sz="1400"/>
            </a:br>
            <a:endParaRPr lang="en-US" sz="1400"/>
          </a:p>
          <a:p>
            <a:r>
              <a:rPr lang="en-US" sz="1400" b="1"/>
              <a:t>Key Python Steps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Selected the </a:t>
            </a:r>
            <a:r>
              <a:rPr lang="en-US" sz="1400" b="1">
                <a:ea typeface="+mn-lt"/>
                <a:cs typeface="+mn-lt"/>
              </a:rPr>
              <a:t>AGEP column</a:t>
            </a:r>
            <a:r>
              <a:rPr lang="en-US" sz="1400">
                <a:ea typeface="+mn-lt"/>
                <a:cs typeface="+mn-lt"/>
              </a:rPr>
              <a:t> for analysis.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Used </a:t>
            </a:r>
            <a:r>
              <a:rPr lang="en-US" sz="1400">
                <a:latin typeface="Consolas"/>
              </a:rPr>
              <a:t>.plot(kind='hist')</a:t>
            </a:r>
            <a:r>
              <a:rPr lang="en-US" sz="1400">
                <a:ea typeface="+mn-lt"/>
                <a:cs typeface="+mn-lt"/>
              </a:rPr>
              <a:t> to create a histogram.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Set </a:t>
            </a:r>
            <a:r>
              <a:rPr lang="en-US" sz="1400">
                <a:latin typeface="Consolas"/>
              </a:rPr>
              <a:t>bins=20</a:t>
            </a:r>
            <a:r>
              <a:rPr lang="en-US" sz="1400">
                <a:ea typeface="+mn-lt"/>
                <a:cs typeface="+mn-lt"/>
              </a:rPr>
              <a:t> to divide ages into </a:t>
            </a:r>
            <a:r>
              <a:rPr lang="en-US" sz="1400" b="1">
                <a:ea typeface="+mn-lt"/>
                <a:cs typeface="+mn-lt"/>
              </a:rPr>
              <a:t>20 equal-width groups</a:t>
            </a:r>
            <a:r>
              <a:rPr lang="en-US" sz="1400">
                <a:ea typeface="+mn-lt"/>
                <a:cs typeface="+mn-lt"/>
              </a:rPr>
              <a:t>.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Displayed the distribution with labeled axes and a title.</a:t>
            </a:r>
            <a:endParaRPr lang="en-US" sz="1400"/>
          </a:p>
          <a:p>
            <a:br>
              <a:rPr lang="en-US" sz="1400"/>
            </a:br>
            <a:endParaRPr lang="en-US" sz="1400"/>
          </a:p>
          <a:p>
            <a:r>
              <a:rPr lang="en-US" sz="1400" b="1"/>
              <a:t>Plot Interpretation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Histogram shows </a:t>
            </a:r>
            <a:r>
              <a:rPr lang="en-US" sz="1400" b="1">
                <a:ea typeface="+mn-lt"/>
                <a:cs typeface="+mn-lt"/>
              </a:rPr>
              <a:t>how ages are spread across the population</a:t>
            </a:r>
            <a:r>
              <a:rPr lang="en-US" sz="1400">
                <a:ea typeface="+mn-lt"/>
                <a:cs typeface="+mn-lt"/>
              </a:rPr>
              <a:t>.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Taller bars represent age ranges with </a:t>
            </a:r>
            <a:r>
              <a:rPr lang="en-US" sz="1400" b="1">
                <a:ea typeface="+mn-lt"/>
                <a:cs typeface="+mn-lt"/>
              </a:rPr>
              <a:t>more individuals</a:t>
            </a:r>
            <a:r>
              <a:rPr lang="en-US" sz="1400">
                <a:ea typeface="+mn-lt"/>
                <a:cs typeface="+mn-lt"/>
              </a:rPr>
              <a:t>.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Helps identify:</a:t>
            </a:r>
            <a:endParaRPr lang="en-US" sz="1400"/>
          </a:p>
          <a:p>
            <a:pPr marL="742950" lvl="1" indent="-285750"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Most common age groups</a:t>
            </a:r>
            <a:endParaRPr lang="en-US" sz="1400"/>
          </a:p>
          <a:p>
            <a:pPr marL="742950" lvl="1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Whether the population is </a:t>
            </a:r>
            <a:r>
              <a:rPr lang="en-US" sz="1400" b="1">
                <a:ea typeface="+mn-lt"/>
                <a:cs typeface="+mn-lt"/>
              </a:rPr>
              <a:t>young-, mid-, or older-skewed</a:t>
            </a:r>
            <a:endParaRPr lang="en-US" sz="1400"/>
          </a:p>
          <a:p>
            <a:pPr marL="742950" lvl="1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Distribution shape (e.g., even, clustered, or declining)</a:t>
            </a:r>
            <a:endParaRPr lang="en-US" sz="1400"/>
          </a:p>
          <a:p>
            <a:pPr algn="l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2894202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74CDF-6A79-9341-9DEA-83A3C1434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Scatter plot: code &amp; VISUALIZATION </a:t>
            </a:r>
          </a:p>
        </p:txBody>
      </p:sp>
      <p:pic>
        <p:nvPicPr>
          <p:cNvPr id="4" name="Content Placeholder 3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15B9B4E6-E60C-9E17-7C18-F58441562A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61574" y="2014965"/>
            <a:ext cx="4491721" cy="1784790"/>
          </a:xfrm>
          <a:prstGeom prst="rect">
            <a:avLst/>
          </a:prstGeom>
        </p:spPr>
      </p:pic>
      <p:pic>
        <p:nvPicPr>
          <p:cNvPr id="5" name="Picture 4" descr="A graph of age vs wage&#10;&#10;AI-generated content may be incorrect.">
            <a:extLst>
              <a:ext uri="{FF2B5EF4-FFF2-40B4-BE49-F238E27FC236}">
                <a16:creationId xmlns:a16="http://schemas.microsoft.com/office/drawing/2014/main" id="{30B2E7D4-8EB1-5272-DBF4-9F203D7C5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570" y="3799755"/>
            <a:ext cx="6655999" cy="28096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076A86-C6FA-5DD2-DE86-E2EDDE3A2556}"/>
              </a:ext>
            </a:extLst>
          </p:cNvPr>
          <p:cNvSpPr txBox="1"/>
          <p:nvPr/>
        </p:nvSpPr>
        <p:spPr>
          <a:xfrm>
            <a:off x="473037" y="2014965"/>
            <a:ext cx="5043865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/>
              <a:t>Data Used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Dataset includes:</a:t>
            </a:r>
            <a:endParaRPr lang="en-US" sz="1200"/>
          </a:p>
          <a:p>
            <a:pPr marL="742950" lvl="1" indent="-285750">
              <a:buFont typeface="Arial"/>
              <a:buChar char="•"/>
            </a:pPr>
            <a:r>
              <a:rPr lang="en-US" sz="1200">
                <a:latin typeface="Consolas"/>
              </a:rPr>
              <a:t>AGEP</a:t>
            </a:r>
            <a:r>
              <a:rPr lang="en-US" sz="1200">
                <a:ea typeface="+mn-lt"/>
                <a:cs typeface="+mn-lt"/>
              </a:rPr>
              <a:t> → Age of individuals</a:t>
            </a:r>
            <a:endParaRPr lang="en-US" sz="1200"/>
          </a:p>
          <a:p>
            <a:pPr marL="742950" lvl="1" indent="-285750">
              <a:buFont typeface="Arial"/>
              <a:buChar char="•"/>
            </a:pPr>
            <a:r>
              <a:rPr lang="en-US" sz="1200">
                <a:latin typeface="Consolas"/>
              </a:rPr>
              <a:t>WAGP</a:t>
            </a:r>
            <a:r>
              <a:rPr lang="en-US" sz="1200">
                <a:ea typeface="+mn-lt"/>
                <a:cs typeface="+mn-lt"/>
              </a:rPr>
              <a:t> → Annual wages or income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Used to analyze the </a:t>
            </a:r>
            <a:r>
              <a:rPr lang="en-US" sz="1200" b="1">
                <a:ea typeface="+mn-lt"/>
                <a:cs typeface="+mn-lt"/>
              </a:rPr>
              <a:t>relationship between age and earnings</a:t>
            </a:r>
            <a:r>
              <a:rPr lang="en-US" sz="1200">
                <a:ea typeface="+mn-lt"/>
                <a:cs typeface="+mn-lt"/>
              </a:rPr>
              <a:t>.</a:t>
            </a:r>
            <a:endParaRPr lang="en-US" sz="1200"/>
          </a:p>
          <a:p>
            <a:br>
              <a:rPr lang="en-US" sz="1200"/>
            </a:br>
            <a:endParaRPr lang="en-US" sz="1200"/>
          </a:p>
          <a:p>
            <a:r>
              <a:rPr lang="en-US" sz="1200" b="1"/>
              <a:t> Key Python Steps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Retrieved age values (</a:t>
            </a:r>
            <a:r>
              <a:rPr lang="en-US" sz="1200" err="1">
                <a:latin typeface="Consolas"/>
              </a:rPr>
              <a:t>df</a:t>
            </a:r>
            <a:r>
              <a:rPr lang="en-US" sz="1200">
                <a:latin typeface="Consolas"/>
              </a:rPr>
              <a:t>['AGEP']</a:t>
            </a:r>
            <a:r>
              <a:rPr lang="en-US" sz="1200">
                <a:ea typeface="+mn-lt"/>
                <a:cs typeface="+mn-lt"/>
              </a:rPr>
              <a:t>) and wage values (</a:t>
            </a:r>
            <a:r>
              <a:rPr lang="en-US" sz="1200" err="1">
                <a:latin typeface="Consolas"/>
              </a:rPr>
              <a:t>df</a:t>
            </a:r>
            <a:r>
              <a:rPr lang="en-US" sz="1200">
                <a:latin typeface="Consolas"/>
              </a:rPr>
              <a:t>['WAGP']</a:t>
            </a:r>
            <a:r>
              <a:rPr lang="en-US" sz="1200">
                <a:ea typeface="+mn-lt"/>
                <a:cs typeface="+mn-lt"/>
              </a:rPr>
              <a:t>).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Used </a:t>
            </a:r>
            <a:r>
              <a:rPr lang="en-US" sz="1200" err="1">
                <a:latin typeface="Consolas"/>
              </a:rPr>
              <a:t>plt.scatter</a:t>
            </a:r>
            <a:r>
              <a:rPr lang="en-US" sz="1200">
                <a:latin typeface="Consolas"/>
              </a:rPr>
              <a:t>()</a:t>
            </a:r>
            <a:r>
              <a:rPr lang="en-US" sz="1200">
                <a:ea typeface="+mn-lt"/>
                <a:cs typeface="+mn-lt"/>
              </a:rPr>
              <a:t> to create a </a:t>
            </a:r>
            <a:r>
              <a:rPr lang="en-US" sz="1200" b="1">
                <a:ea typeface="+mn-lt"/>
                <a:cs typeface="+mn-lt"/>
              </a:rPr>
              <a:t>scatter plot</a:t>
            </a:r>
            <a:r>
              <a:rPr lang="en-US" sz="1200">
                <a:ea typeface="+mn-lt"/>
                <a:cs typeface="+mn-lt"/>
              </a:rPr>
              <a:t>.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Applied </a:t>
            </a:r>
            <a:r>
              <a:rPr lang="en-US" sz="1200">
                <a:latin typeface="Consolas"/>
              </a:rPr>
              <a:t>alpha=0.5</a:t>
            </a:r>
            <a:r>
              <a:rPr lang="en-US" sz="1200">
                <a:ea typeface="+mn-lt"/>
                <a:cs typeface="+mn-lt"/>
              </a:rPr>
              <a:t> to make points </a:t>
            </a:r>
            <a:r>
              <a:rPr lang="en-US" sz="1200" b="1">
                <a:ea typeface="+mn-lt"/>
                <a:cs typeface="+mn-lt"/>
              </a:rPr>
              <a:t>semi-transparent</a:t>
            </a:r>
            <a:r>
              <a:rPr lang="en-US" sz="1200">
                <a:ea typeface="+mn-lt"/>
                <a:cs typeface="+mn-lt"/>
              </a:rPr>
              <a:t> for clarity.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Labeled axes and added a title for interpretation.</a:t>
            </a:r>
            <a:endParaRPr lang="en-US" sz="1200"/>
          </a:p>
          <a:p>
            <a:br>
              <a:rPr lang="en-US" sz="1200"/>
            </a:br>
            <a:endParaRPr lang="en-US" sz="1200"/>
          </a:p>
          <a:p>
            <a:r>
              <a:rPr lang="en-US" sz="1200" b="1"/>
              <a:t> Plot Interpretation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Shows </a:t>
            </a:r>
            <a:r>
              <a:rPr lang="en-US" sz="1200" b="1">
                <a:ea typeface="+mn-lt"/>
                <a:cs typeface="+mn-lt"/>
              </a:rPr>
              <a:t>how wages vary across different ages</a:t>
            </a:r>
            <a:r>
              <a:rPr lang="en-US" sz="1200">
                <a:ea typeface="+mn-lt"/>
                <a:cs typeface="+mn-lt"/>
              </a:rPr>
              <a:t>.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Each dot represents </a:t>
            </a:r>
            <a:r>
              <a:rPr lang="en-US" sz="1200" b="1">
                <a:ea typeface="+mn-lt"/>
                <a:cs typeface="+mn-lt"/>
              </a:rPr>
              <a:t>one individual’s age and income</a:t>
            </a:r>
            <a:r>
              <a:rPr lang="en-US" sz="1200">
                <a:ea typeface="+mn-lt"/>
                <a:cs typeface="+mn-lt"/>
              </a:rPr>
              <a:t>.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Helps reveal trends:</a:t>
            </a:r>
            <a:endParaRPr lang="en-US" sz="1200"/>
          </a:p>
          <a:p>
            <a:pPr marL="742950" lvl="1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Wages may </a:t>
            </a:r>
            <a:r>
              <a:rPr lang="en-US" sz="1200" b="1">
                <a:ea typeface="+mn-lt"/>
                <a:cs typeface="+mn-lt"/>
              </a:rPr>
              <a:t>increase with age</a:t>
            </a:r>
            <a:r>
              <a:rPr lang="en-US" sz="1200">
                <a:ea typeface="+mn-lt"/>
                <a:cs typeface="+mn-lt"/>
              </a:rPr>
              <a:t> up to a point.</a:t>
            </a:r>
            <a:endParaRPr lang="en-US" sz="1200"/>
          </a:p>
          <a:p>
            <a:pPr marL="742950" lvl="1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Possible </a:t>
            </a:r>
            <a:r>
              <a:rPr lang="en-US" sz="1200" b="1">
                <a:ea typeface="+mn-lt"/>
                <a:cs typeface="+mn-lt"/>
              </a:rPr>
              <a:t>wide variation in income</a:t>
            </a:r>
            <a:r>
              <a:rPr lang="en-US" sz="1200">
                <a:ea typeface="+mn-lt"/>
                <a:cs typeface="+mn-lt"/>
              </a:rPr>
              <a:t> across ages.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No clear pattern may suggest </a:t>
            </a:r>
            <a:r>
              <a:rPr lang="en-US" sz="1200" b="1">
                <a:ea typeface="+mn-lt"/>
                <a:cs typeface="+mn-lt"/>
              </a:rPr>
              <a:t>many other factors affect wages</a:t>
            </a:r>
            <a:r>
              <a:rPr lang="en-US" sz="1200">
                <a:ea typeface="+mn-lt"/>
                <a:cs typeface="+mn-lt"/>
              </a:rPr>
              <a:t>.</a:t>
            </a:r>
            <a:endParaRPr lang="en-US" sz="1200"/>
          </a:p>
          <a:p>
            <a:pPr algn="l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0968263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7FDE8-D4FF-F0BA-275A-844BD9F74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Stack plot: code &amp; VISUALIZATION </a:t>
            </a:r>
          </a:p>
        </p:txBody>
      </p:sp>
      <p:pic>
        <p:nvPicPr>
          <p:cNvPr id="4" name="Content Placeholder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FC882DE-7CB2-8B43-86D5-50CF9575AF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03775" y="1778747"/>
            <a:ext cx="3807033" cy="2284091"/>
          </a:xfrm>
          <a:prstGeom prst="rect">
            <a:avLst/>
          </a:prstGeom>
        </p:spPr>
      </p:pic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A89D9406-4D44-3080-16E0-9B6F5648A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161" y="4125630"/>
            <a:ext cx="4861887" cy="27323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4860F1-7547-B5B9-C6BA-790EDFA241B9}"/>
              </a:ext>
            </a:extLst>
          </p:cNvPr>
          <p:cNvSpPr txBox="1"/>
          <p:nvPr/>
        </p:nvSpPr>
        <p:spPr>
          <a:xfrm>
            <a:off x="443131" y="1872149"/>
            <a:ext cx="6661856" cy="48705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/>
              <a:t> Data Used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Dataset includes:</a:t>
            </a:r>
            <a:endParaRPr lang="en-US" sz="1200"/>
          </a:p>
          <a:p>
            <a:pPr marL="742950" lvl="1" indent="-285750">
              <a:buFont typeface="Arial"/>
              <a:buChar char="•"/>
            </a:pPr>
            <a:r>
              <a:rPr lang="en-US" sz="1200">
                <a:latin typeface="Consolas"/>
              </a:rPr>
              <a:t>AGEP</a:t>
            </a:r>
            <a:r>
              <a:rPr lang="en-US" sz="1200">
                <a:ea typeface="+mn-lt"/>
                <a:cs typeface="+mn-lt"/>
              </a:rPr>
              <a:t> → Age of individuals</a:t>
            </a:r>
            <a:endParaRPr lang="en-US" sz="1200"/>
          </a:p>
          <a:p>
            <a:pPr marL="742950" lvl="1" indent="-285750">
              <a:buFont typeface="Arial"/>
              <a:buChar char="•"/>
            </a:pPr>
            <a:r>
              <a:rPr lang="en-US" sz="1200">
                <a:latin typeface="Consolas"/>
              </a:rPr>
              <a:t>OCCP</a:t>
            </a:r>
            <a:r>
              <a:rPr lang="en-US" sz="1200">
                <a:ea typeface="+mn-lt"/>
                <a:cs typeface="+mn-lt"/>
              </a:rPr>
              <a:t> → Occupation code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Focuses only on the </a:t>
            </a:r>
            <a:r>
              <a:rPr lang="en-US" sz="1200" b="1">
                <a:ea typeface="+mn-lt"/>
                <a:cs typeface="+mn-lt"/>
              </a:rPr>
              <a:t>top 5 occupations</a:t>
            </a:r>
            <a:r>
              <a:rPr lang="en-US" sz="1200">
                <a:ea typeface="+mn-lt"/>
                <a:cs typeface="+mn-lt"/>
              </a:rPr>
              <a:t>.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Ages are grouped into five ranges:</a:t>
            </a:r>
            <a:br>
              <a:rPr lang="en-US" sz="1200">
                <a:ea typeface="+mn-lt"/>
                <a:cs typeface="+mn-lt"/>
              </a:rPr>
            </a:b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b="1">
                <a:ea typeface="+mn-lt"/>
                <a:cs typeface="+mn-lt"/>
              </a:rPr>
              <a:t>18–25, 26–35, 36–45, 46–55, 56–65</a:t>
            </a:r>
            <a:r>
              <a:rPr lang="en-US" sz="1200">
                <a:ea typeface="+mn-lt"/>
                <a:cs typeface="+mn-lt"/>
              </a:rPr>
              <a:t>.</a:t>
            </a:r>
            <a:endParaRPr lang="en-US" sz="1200"/>
          </a:p>
          <a:p>
            <a:br>
              <a:rPr lang="en-US" sz="1200"/>
            </a:br>
            <a:endParaRPr lang="en-US" sz="1200"/>
          </a:p>
          <a:p>
            <a:r>
              <a:rPr lang="en-US" sz="1200" b="1"/>
              <a:t> Key Python Steps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Created </a:t>
            </a:r>
            <a:r>
              <a:rPr lang="en-US" sz="1200" b="1">
                <a:ea typeface="+mn-lt"/>
                <a:cs typeface="+mn-lt"/>
              </a:rPr>
              <a:t>age group categories</a:t>
            </a:r>
            <a:r>
              <a:rPr lang="en-US" sz="1200">
                <a:ea typeface="+mn-lt"/>
                <a:cs typeface="+mn-lt"/>
              </a:rPr>
              <a:t> using </a:t>
            </a:r>
            <a:r>
              <a:rPr lang="en-US" sz="1200" err="1">
                <a:latin typeface="Consolas"/>
              </a:rPr>
              <a:t>pd.cut</a:t>
            </a:r>
            <a:r>
              <a:rPr lang="en-US" sz="1200">
                <a:latin typeface="Consolas"/>
              </a:rPr>
              <a:t>()</a:t>
            </a:r>
            <a:r>
              <a:rPr lang="en-US" sz="1200">
                <a:ea typeface="+mn-lt"/>
                <a:cs typeface="+mn-lt"/>
              </a:rPr>
              <a:t>.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Identified the </a:t>
            </a:r>
            <a:r>
              <a:rPr lang="en-US" sz="1200" b="1">
                <a:ea typeface="+mn-lt"/>
                <a:cs typeface="+mn-lt"/>
              </a:rPr>
              <a:t>top 5 occupations</a:t>
            </a:r>
            <a:r>
              <a:rPr lang="en-US" sz="1200">
                <a:ea typeface="+mn-lt"/>
                <a:cs typeface="+mn-lt"/>
              </a:rPr>
              <a:t> using </a:t>
            </a:r>
            <a:r>
              <a:rPr lang="en-US" sz="1200" err="1">
                <a:latin typeface="Consolas"/>
              </a:rPr>
              <a:t>value_counts</a:t>
            </a:r>
            <a:r>
              <a:rPr lang="en-US" sz="1200">
                <a:latin typeface="Consolas"/>
              </a:rPr>
              <a:t>().head(5)</a:t>
            </a:r>
            <a:r>
              <a:rPr lang="en-US" sz="1200">
                <a:ea typeface="+mn-lt"/>
                <a:cs typeface="+mn-lt"/>
              </a:rPr>
              <a:t>.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Filtered the dataset to include </a:t>
            </a:r>
            <a:r>
              <a:rPr lang="en-US" sz="1200" b="1">
                <a:ea typeface="+mn-lt"/>
                <a:cs typeface="+mn-lt"/>
              </a:rPr>
              <a:t>only those occupations</a:t>
            </a:r>
            <a:r>
              <a:rPr lang="en-US" sz="1200">
                <a:ea typeface="+mn-lt"/>
                <a:cs typeface="+mn-lt"/>
              </a:rPr>
              <a:t>.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Built a </a:t>
            </a:r>
            <a:r>
              <a:rPr lang="en-US" sz="1200" b="1">
                <a:ea typeface="+mn-lt"/>
                <a:cs typeface="+mn-lt"/>
              </a:rPr>
              <a:t>pivot table</a:t>
            </a:r>
            <a:r>
              <a:rPr lang="en-US" sz="1200">
                <a:ea typeface="+mn-lt"/>
                <a:cs typeface="+mn-lt"/>
              </a:rPr>
              <a:t> to count workers in each occupation by age group.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Created a </a:t>
            </a:r>
            <a:r>
              <a:rPr lang="en-US" sz="1200" b="1">
                <a:ea typeface="+mn-lt"/>
                <a:cs typeface="+mn-lt"/>
              </a:rPr>
              <a:t>stack plot</a:t>
            </a:r>
            <a:r>
              <a:rPr lang="en-US" sz="1200">
                <a:ea typeface="+mn-lt"/>
                <a:cs typeface="+mn-lt"/>
              </a:rPr>
              <a:t> using </a:t>
            </a:r>
            <a:r>
              <a:rPr lang="en-US" sz="1200" err="1">
                <a:latin typeface="Consolas"/>
              </a:rPr>
              <a:t>plt.stackplot</a:t>
            </a:r>
            <a:r>
              <a:rPr lang="en-US" sz="1200">
                <a:latin typeface="Consolas"/>
              </a:rPr>
              <a:t>()</a:t>
            </a:r>
            <a:r>
              <a:rPr lang="en-US" sz="1200">
                <a:ea typeface="+mn-lt"/>
                <a:cs typeface="+mn-lt"/>
              </a:rPr>
              <a:t> to compare participation across ages.</a:t>
            </a:r>
            <a:endParaRPr lang="en-US" sz="1200"/>
          </a:p>
          <a:p>
            <a:br>
              <a:rPr lang="en-US" sz="1200"/>
            </a:br>
            <a:endParaRPr lang="en-US" sz="1200"/>
          </a:p>
          <a:p>
            <a:r>
              <a:rPr lang="en-US" sz="1200" b="1"/>
              <a:t> Plot Interpretation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Shows how </a:t>
            </a:r>
            <a:r>
              <a:rPr lang="en-US" sz="1200" b="1">
                <a:ea typeface="+mn-lt"/>
                <a:cs typeface="+mn-lt"/>
              </a:rPr>
              <a:t>the top 5 occupations are distributed across age groups</a:t>
            </a:r>
            <a:r>
              <a:rPr lang="en-US" sz="1200">
                <a:ea typeface="+mn-lt"/>
                <a:cs typeface="+mn-lt"/>
              </a:rPr>
              <a:t>.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Each colored area represents </a:t>
            </a:r>
            <a:r>
              <a:rPr lang="en-US" sz="1200" b="1">
                <a:ea typeface="+mn-lt"/>
                <a:cs typeface="+mn-lt"/>
              </a:rPr>
              <a:t>one occupation’s workers</a:t>
            </a:r>
            <a:r>
              <a:rPr lang="en-US" sz="1200">
                <a:ea typeface="+mn-lt"/>
                <a:cs typeface="+mn-lt"/>
              </a:rPr>
              <a:t>.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Wider sections indicate </a:t>
            </a:r>
            <a:r>
              <a:rPr lang="en-US" sz="1200" b="1">
                <a:ea typeface="+mn-lt"/>
                <a:cs typeface="+mn-lt"/>
              </a:rPr>
              <a:t>more workers in that age group</a:t>
            </a:r>
            <a:r>
              <a:rPr lang="en-US" sz="1200">
                <a:ea typeface="+mn-lt"/>
                <a:cs typeface="+mn-lt"/>
              </a:rPr>
              <a:t>.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Helps reveal:</a:t>
            </a:r>
            <a:endParaRPr lang="en-US" sz="1200"/>
          </a:p>
          <a:p>
            <a:pPr marL="742950" lvl="1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Which age groups dominate certain occupations</a:t>
            </a:r>
            <a:endParaRPr lang="en-US" sz="1200"/>
          </a:p>
          <a:p>
            <a:pPr marL="742950" lvl="1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How occupation participation shifts with age</a:t>
            </a:r>
            <a:endParaRPr lang="en-US" sz="1200"/>
          </a:p>
          <a:p>
            <a:pPr marL="742950" lvl="1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Whether some jobs attract younger vs. older workers</a:t>
            </a:r>
            <a:endParaRPr lang="en-US" sz="1200"/>
          </a:p>
          <a:p>
            <a:pPr algn="l"/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19636024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D1EF9-452E-CDDA-DD00-5D9339E98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multiplot: code &amp; VISUALIZATION </a:t>
            </a:r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7C8253B-7B8E-A7D1-0597-3CD825E290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4822" y="1514165"/>
            <a:ext cx="3143250" cy="21041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6B7B1F-DA4F-1D3D-BC5B-C22A05927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58" y="3618271"/>
            <a:ext cx="4264379" cy="32397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935FF9-ABA0-C3F9-4FFD-247B96CBE04C}"/>
              </a:ext>
            </a:extLst>
          </p:cNvPr>
          <p:cNvSpPr txBox="1"/>
          <p:nvPr/>
        </p:nvSpPr>
        <p:spPr>
          <a:xfrm>
            <a:off x="409930" y="1779687"/>
            <a:ext cx="6915027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/>
              <a:t> Data Used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Columns used:</a:t>
            </a:r>
            <a:endParaRPr lang="en-US" sz="1200"/>
          </a:p>
          <a:p>
            <a:pPr marL="742950" lvl="1" indent="-285750">
              <a:buFont typeface="Arial"/>
              <a:buChar char="•"/>
            </a:pPr>
            <a:r>
              <a:rPr lang="en-US" sz="1200">
                <a:latin typeface="Consolas"/>
              </a:rPr>
              <a:t>AGEP</a:t>
            </a:r>
            <a:r>
              <a:rPr lang="en-US" sz="1200">
                <a:ea typeface="+mn-lt"/>
                <a:cs typeface="+mn-lt"/>
              </a:rPr>
              <a:t> → Age of individuals</a:t>
            </a:r>
            <a:endParaRPr lang="en-US" sz="1200"/>
          </a:p>
          <a:p>
            <a:pPr marL="742950" lvl="1" indent="-285750">
              <a:buFont typeface="Arial"/>
              <a:buChar char="•"/>
            </a:pPr>
            <a:r>
              <a:rPr lang="en-US" sz="1200">
                <a:latin typeface="Consolas"/>
              </a:rPr>
              <a:t>WAGP</a:t>
            </a:r>
            <a:r>
              <a:rPr lang="en-US" sz="1200">
                <a:ea typeface="+mn-lt"/>
                <a:cs typeface="+mn-lt"/>
              </a:rPr>
              <a:t> → Annual wages/income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Used to analyze </a:t>
            </a:r>
            <a:r>
              <a:rPr lang="en-US" sz="1200" b="1">
                <a:ea typeface="+mn-lt"/>
                <a:cs typeface="+mn-lt"/>
              </a:rPr>
              <a:t>how income changes with age</a:t>
            </a:r>
            <a:r>
              <a:rPr lang="en-US" sz="1200">
                <a:ea typeface="+mn-lt"/>
                <a:cs typeface="+mn-lt"/>
              </a:rPr>
              <a:t> and </a:t>
            </a:r>
            <a:r>
              <a:rPr lang="en-US" sz="1200" b="1">
                <a:ea typeface="+mn-lt"/>
                <a:cs typeface="+mn-lt"/>
              </a:rPr>
              <a:t>population size per age</a:t>
            </a:r>
            <a:r>
              <a:rPr lang="en-US" sz="1200">
                <a:ea typeface="+mn-lt"/>
                <a:cs typeface="+mn-lt"/>
              </a:rPr>
              <a:t>.</a:t>
            </a:r>
            <a:endParaRPr lang="en-US" sz="1200"/>
          </a:p>
          <a:p>
            <a:br>
              <a:rPr lang="en-US"/>
            </a:br>
            <a:endParaRPr lang="en-US" sz="1200"/>
          </a:p>
          <a:p>
            <a:r>
              <a:rPr lang="en-US" sz="1200" b="1"/>
              <a:t> Key Python Steps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Used </a:t>
            </a:r>
            <a:r>
              <a:rPr lang="en-US" sz="1200" err="1">
                <a:latin typeface="Consolas"/>
              </a:rPr>
              <a:t>groupby</a:t>
            </a:r>
            <a:r>
              <a:rPr lang="en-US" sz="1200">
                <a:latin typeface="Consolas"/>
              </a:rPr>
              <a:t>('AGEP')['WAGP'].mean()</a:t>
            </a:r>
            <a:r>
              <a:rPr lang="en-US" sz="1200">
                <a:ea typeface="+mn-lt"/>
                <a:cs typeface="+mn-lt"/>
              </a:rPr>
              <a:t> to calculate </a:t>
            </a:r>
            <a:r>
              <a:rPr lang="en-US" sz="1200" b="1">
                <a:ea typeface="+mn-lt"/>
                <a:cs typeface="+mn-lt"/>
              </a:rPr>
              <a:t>average income by age</a:t>
            </a:r>
            <a:r>
              <a:rPr lang="en-US" sz="1200">
                <a:ea typeface="+mn-lt"/>
                <a:cs typeface="+mn-lt"/>
              </a:rPr>
              <a:t>.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Plotted the average income trend in </a:t>
            </a:r>
            <a:r>
              <a:rPr lang="en-US" sz="1200" b="1">
                <a:ea typeface="+mn-lt"/>
                <a:cs typeface="+mn-lt"/>
              </a:rPr>
              <a:t>subplot 1</a:t>
            </a:r>
            <a:r>
              <a:rPr lang="en-US" sz="1200">
                <a:ea typeface="+mn-lt"/>
                <a:cs typeface="+mn-lt"/>
              </a:rPr>
              <a:t>.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Counted the number of individuals at each age using </a:t>
            </a:r>
            <a:r>
              <a:rPr lang="en-US" sz="1200" err="1">
                <a:latin typeface="Consolas"/>
              </a:rPr>
              <a:t>value_counts</a:t>
            </a:r>
            <a:r>
              <a:rPr lang="en-US" sz="1200">
                <a:latin typeface="Consolas"/>
              </a:rPr>
              <a:t>()</a:t>
            </a:r>
            <a:r>
              <a:rPr lang="en-US" sz="1200">
                <a:ea typeface="+mn-lt"/>
                <a:cs typeface="+mn-lt"/>
              </a:rPr>
              <a:t>.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Sorted ages numerically and plotted counts in </a:t>
            </a:r>
            <a:r>
              <a:rPr lang="en-US" sz="1200" b="1">
                <a:ea typeface="+mn-lt"/>
                <a:cs typeface="+mn-lt"/>
              </a:rPr>
              <a:t>subplot 2</a:t>
            </a:r>
            <a:r>
              <a:rPr lang="en-US" sz="1200">
                <a:ea typeface="+mn-lt"/>
                <a:cs typeface="+mn-lt"/>
              </a:rPr>
              <a:t>.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Used </a:t>
            </a:r>
            <a:r>
              <a:rPr lang="en-US" sz="1200" err="1">
                <a:latin typeface="Consolas"/>
              </a:rPr>
              <a:t>plt.subplots</a:t>
            </a:r>
            <a:r>
              <a:rPr lang="en-US" sz="1200">
                <a:latin typeface="Consolas"/>
              </a:rPr>
              <a:t>()</a:t>
            </a:r>
            <a:r>
              <a:rPr lang="en-US" sz="1200">
                <a:ea typeface="+mn-lt"/>
                <a:cs typeface="+mn-lt"/>
              </a:rPr>
              <a:t> to place both charts vertically in one figure.</a:t>
            </a:r>
            <a:endParaRPr lang="en-US" sz="1200"/>
          </a:p>
          <a:p>
            <a:br>
              <a:rPr lang="en-US"/>
            </a:br>
            <a:endParaRPr lang="en-US" sz="1200"/>
          </a:p>
          <a:p>
            <a:r>
              <a:rPr lang="en-US" sz="1200" b="1"/>
              <a:t>Plot Interpretation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 b="1">
                <a:ea typeface="+mn-lt"/>
                <a:cs typeface="+mn-lt"/>
              </a:rPr>
              <a:t>Top plot (Average Income by Age):</a:t>
            </a:r>
            <a:endParaRPr lang="en-US" sz="1200"/>
          </a:p>
          <a:p>
            <a:pPr marL="742950" lvl="1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Shows how earnings </a:t>
            </a:r>
            <a:r>
              <a:rPr lang="en-US" sz="1200" b="1">
                <a:ea typeface="+mn-lt"/>
                <a:cs typeface="+mn-lt"/>
              </a:rPr>
              <a:t>increase, peak, or decline</a:t>
            </a:r>
            <a:r>
              <a:rPr lang="en-US" sz="1200">
                <a:ea typeface="+mn-lt"/>
                <a:cs typeface="+mn-lt"/>
              </a:rPr>
              <a:t> with age.</a:t>
            </a:r>
            <a:endParaRPr lang="en-US" sz="1200"/>
          </a:p>
          <a:p>
            <a:pPr marL="742950" lvl="1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Indicates whether income rises over time and at what ages it stabilizes.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 b="1">
                <a:ea typeface="+mn-lt"/>
                <a:cs typeface="+mn-lt"/>
              </a:rPr>
              <a:t>Bottom plot (Worker Count by Age):</a:t>
            </a:r>
            <a:endParaRPr lang="en-US" sz="1200"/>
          </a:p>
          <a:p>
            <a:pPr marL="742950" lvl="1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Displays </a:t>
            </a:r>
            <a:r>
              <a:rPr lang="en-US" sz="1200" b="1">
                <a:ea typeface="+mn-lt"/>
                <a:cs typeface="+mn-lt"/>
              </a:rPr>
              <a:t>how many people are represented per age</a:t>
            </a:r>
            <a:r>
              <a:rPr lang="en-US" sz="1200">
                <a:ea typeface="+mn-lt"/>
                <a:cs typeface="+mn-lt"/>
              </a:rPr>
              <a:t>.</a:t>
            </a:r>
            <a:endParaRPr lang="en-US" sz="1200"/>
          </a:p>
          <a:p>
            <a:pPr marL="742950" lvl="1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Helps identify whether certain age groups are </a:t>
            </a:r>
            <a:r>
              <a:rPr lang="en-US" sz="1200" b="1">
                <a:ea typeface="+mn-lt"/>
                <a:cs typeface="+mn-lt"/>
              </a:rPr>
              <a:t>over- or under-represented</a:t>
            </a:r>
            <a:r>
              <a:rPr lang="en-US" sz="1200">
                <a:ea typeface="+mn-lt"/>
                <a:cs typeface="+mn-lt"/>
              </a:rPr>
              <a:t>.</a:t>
            </a:r>
            <a:endParaRPr lang="en-US" sz="1200"/>
          </a:p>
          <a:p>
            <a:pPr marL="285750" indent="-285750">
              <a:buFont typeface="Arial"/>
              <a:buChar char="•"/>
            </a:pPr>
            <a:r>
              <a:rPr lang="en-US" sz="1200" b="1">
                <a:ea typeface="+mn-lt"/>
                <a:cs typeface="+mn-lt"/>
              </a:rPr>
              <a:t>Together they help answer:</a:t>
            </a:r>
            <a:endParaRPr lang="en-US" sz="1200"/>
          </a:p>
          <a:p>
            <a:pPr marL="742950" lvl="1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Do ages with higher income have </a:t>
            </a:r>
            <a:r>
              <a:rPr lang="en-US" sz="1200" b="1">
                <a:ea typeface="+mn-lt"/>
                <a:cs typeface="+mn-lt"/>
              </a:rPr>
              <a:t>more or fewer workers</a:t>
            </a:r>
            <a:r>
              <a:rPr lang="en-US" sz="1200">
                <a:ea typeface="+mn-lt"/>
                <a:cs typeface="+mn-lt"/>
              </a:rPr>
              <a:t>?</a:t>
            </a:r>
            <a:endParaRPr lang="en-US" sz="1200"/>
          </a:p>
          <a:p>
            <a:pPr marL="742950" lvl="1" indent="-2857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How earnings progression relates to age distribution.</a:t>
            </a:r>
            <a:endParaRPr lang="en-US" sz="1200"/>
          </a:p>
          <a:p>
            <a:pPr algn="l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286197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F7DC7-1E05-5EBB-57AB-AE10421C2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Tableau Plot 1 ( Bar chart)</a:t>
            </a:r>
          </a:p>
        </p:txBody>
      </p:sp>
      <p:pic>
        <p:nvPicPr>
          <p:cNvPr id="5" name="Content Placeholder 4" descr="A graph of numbers and a number of individuals&#10;&#10;AI-generated content may be incorrect.">
            <a:extLst>
              <a:ext uri="{FF2B5EF4-FFF2-40B4-BE49-F238E27FC236}">
                <a16:creationId xmlns:a16="http://schemas.microsoft.com/office/drawing/2014/main" id="{E50E7C94-6028-5C03-0F05-4933E07082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02503" y="2122230"/>
            <a:ext cx="4389497" cy="420974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3E3FFD-1AB0-9D41-7F25-172DAAF9D8FE}"/>
              </a:ext>
            </a:extLst>
          </p:cNvPr>
          <p:cNvSpPr txBox="1"/>
          <p:nvPr/>
        </p:nvSpPr>
        <p:spPr>
          <a:xfrm>
            <a:off x="94613" y="2122230"/>
            <a:ext cx="779085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What It Shows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 </a:t>
            </a:r>
            <a:r>
              <a:rPr lang="en-US" sz="1400" b="1"/>
              <a:t>vertical bar chart</a:t>
            </a:r>
            <a:r>
              <a:rPr lang="en-US" sz="1400"/>
              <a:t> displaying the </a:t>
            </a:r>
            <a:r>
              <a:rPr lang="en-US" sz="1400" b="1"/>
              <a:t>10 most common occupations</a:t>
            </a:r>
            <a:r>
              <a:rPr lang="en-US" sz="1400"/>
              <a:t> in your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Each bar represents an </a:t>
            </a:r>
            <a:r>
              <a:rPr lang="en-US" sz="1400" b="1"/>
              <a:t>occupation code (OCCP)</a:t>
            </a:r>
            <a:r>
              <a:rPr lang="en-US" sz="14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The </a:t>
            </a:r>
            <a:r>
              <a:rPr lang="en-US" sz="1400" b="1"/>
              <a:t>height of the bar</a:t>
            </a:r>
            <a:r>
              <a:rPr lang="en-US" sz="1400"/>
              <a:t> reflects the </a:t>
            </a:r>
            <a:r>
              <a:rPr lang="en-US" sz="1400" b="1"/>
              <a:t>number of individuals</a:t>
            </a:r>
            <a:r>
              <a:rPr lang="en-US" sz="1400"/>
              <a:t> in that occupation.</a:t>
            </a:r>
          </a:p>
          <a:p>
            <a:endParaRPr lang="en-US" sz="1400"/>
          </a:p>
          <a:p>
            <a:r>
              <a:rPr lang="en-US" sz="1400" b="1"/>
              <a:t>How to Interpret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The </a:t>
            </a:r>
            <a:r>
              <a:rPr lang="en-US" sz="1400" b="1"/>
              <a:t>taller the bar</a:t>
            </a:r>
            <a:r>
              <a:rPr lang="en-US" sz="1400"/>
              <a:t>, the </a:t>
            </a:r>
            <a:r>
              <a:rPr lang="en-US" sz="1400" b="1"/>
              <a:t>more people</a:t>
            </a:r>
            <a:r>
              <a:rPr lang="en-US" sz="1400"/>
              <a:t> work in that occupation.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Occupation code </a:t>
            </a:r>
            <a:r>
              <a:rPr lang="en-US" sz="1400" b="1"/>
              <a:t>Bookkeeping, Accounting, and Auditing Clerks </a:t>
            </a:r>
            <a:r>
              <a:rPr lang="en-US" sz="1400"/>
              <a:t>has the highest count, meaning it's the most common job in your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Occupation code </a:t>
            </a:r>
            <a:r>
              <a:rPr lang="en-US" sz="1400" b="1"/>
              <a:t>Electricians</a:t>
            </a:r>
            <a:r>
              <a:rPr lang="en-US" sz="1400"/>
              <a:t> has the lowest among the top 10, but still ranks higher than all others not shown.</a:t>
            </a:r>
          </a:p>
          <a:p>
            <a:endParaRPr lang="en-US" sz="1400"/>
          </a:p>
          <a:p>
            <a:r>
              <a:rPr lang="en-US" sz="1400" b="1"/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You can identify </a:t>
            </a:r>
            <a:r>
              <a:rPr lang="en-US" sz="1400" b="1"/>
              <a:t>which occupations dominate</a:t>
            </a:r>
            <a:r>
              <a:rPr lang="en-US" sz="1400"/>
              <a:t> the workforce.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This helps in understanding </a:t>
            </a:r>
            <a:r>
              <a:rPr lang="en-US" sz="1400" b="1"/>
              <a:t>labor market concentration,</a:t>
            </a:r>
            <a:r>
              <a:rPr lang="en-US" sz="1400"/>
              <a:t> where most people are clustered in a few job types.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If you're comparing regions or demographics, this chart can show </a:t>
            </a:r>
            <a:r>
              <a:rPr lang="en-US" sz="1400" b="1"/>
              <a:t>which jobs are most prevalent</a:t>
            </a:r>
            <a:r>
              <a:rPr lang="en-US" sz="1400"/>
              <a:t> in each group.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1847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374B-EF36-9742-4082-E29B2120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Tableau plot 2 ( Scatter Plot with Cure)</a:t>
            </a:r>
          </a:p>
        </p:txBody>
      </p:sp>
      <p:pic>
        <p:nvPicPr>
          <p:cNvPr id="5" name="Content Placeholder 4" descr="A graph of age and average wage">
            <a:extLst>
              <a:ext uri="{FF2B5EF4-FFF2-40B4-BE49-F238E27FC236}">
                <a16:creationId xmlns:a16="http://schemas.microsoft.com/office/drawing/2014/main" id="{54660715-6264-376E-6E0D-AD25D139F2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4699" y="2299212"/>
            <a:ext cx="4756110" cy="411142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D34F59-3B16-C1BD-3627-0835C78CD09F}"/>
              </a:ext>
            </a:extLst>
          </p:cNvPr>
          <p:cNvSpPr txBox="1"/>
          <p:nvPr/>
        </p:nvSpPr>
        <p:spPr>
          <a:xfrm>
            <a:off x="235974" y="1828801"/>
            <a:ext cx="68530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What It Shows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/>
              <a:t>A </a:t>
            </a:r>
            <a:r>
              <a:rPr lang="en-US" sz="1600" b="1"/>
              <a:t>scatter plot</a:t>
            </a:r>
            <a:r>
              <a:rPr lang="en-US" sz="1600"/>
              <a:t> with </a:t>
            </a:r>
            <a:r>
              <a:rPr lang="en-US" sz="1600" b="1"/>
              <a:t>orange dots</a:t>
            </a:r>
            <a:r>
              <a:rPr lang="en-US" sz="1600"/>
              <a:t> representing individual data points (age vs wage).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/>
              <a:t>A </a:t>
            </a:r>
            <a:r>
              <a:rPr lang="en-US" sz="1600" b="1"/>
              <a:t>green fitted curve</a:t>
            </a:r>
            <a:r>
              <a:rPr lang="en-US" sz="1600"/>
              <a:t> shows the overall trend in wages as age increases.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/>
              <a:t>X-axis = </a:t>
            </a:r>
            <a:r>
              <a:rPr lang="en-US" sz="1600" b="1"/>
              <a:t>Age</a:t>
            </a:r>
            <a:r>
              <a:rPr lang="en-US" sz="1600"/>
              <a:t> (from 30 to 60), Y-axis = </a:t>
            </a:r>
            <a:r>
              <a:rPr lang="en-US" sz="1600" b="1"/>
              <a:t>Annual Wages</a:t>
            </a:r>
            <a:r>
              <a:rPr lang="en-US" sz="1600"/>
              <a:t> (from $0K to $90K).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/>
          </a:p>
          <a:p>
            <a:r>
              <a:rPr lang="en-US" sz="1600" b="1"/>
              <a:t> How to Interpret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Wages </a:t>
            </a:r>
            <a:r>
              <a:rPr lang="en-US" sz="1600" b="1"/>
              <a:t>increase steadily</a:t>
            </a:r>
            <a:r>
              <a:rPr lang="en-US" sz="1600"/>
              <a:t> from age 30 to around age 45.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After 45, wages </a:t>
            </a:r>
            <a:r>
              <a:rPr lang="en-US" sz="1600" b="1"/>
              <a:t>plateau or slightly decline</a:t>
            </a:r>
            <a:r>
              <a:rPr lang="en-US" sz="1600"/>
              <a:t>, suggesting a peak earning 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The curve helps visualize the </a:t>
            </a:r>
            <a:r>
              <a:rPr lang="en-US" sz="1600" b="1"/>
              <a:t>average wage trajectory</a:t>
            </a:r>
            <a:r>
              <a:rPr lang="en-US" sz="1600"/>
              <a:t> across age groups.</a:t>
            </a:r>
          </a:p>
          <a:p>
            <a:endParaRPr lang="en-US" sz="1600"/>
          </a:p>
          <a:p>
            <a:r>
              <a:rPr lang="en-US" sz="1600" b="1"/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This graph reveals the </a:t>
            </a:r>
            <a:r>
              <a:rPr lang="en-US" sz="1600" b="1"/>
              <a:t>relationship between age and income</a:t>
            </a:r>
            <a:r>
              <a:rPr lang="en-US" sz="16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It suggests that </a:t>
            </a:r>
            <a:r>
              <a:rPr lang="en-US" sz="1600" b="1"/>
              <a:t>mid-career individuals (around 45)</a:t>
            </a:r>
            <a:r>
              <a:rPr lang="en-US" sz="1600"/>
              <a:t> tend to earn the most.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Useful for analyzing </a:t>
            </a:r>
            <a:r>
              <a:rPr lang="en-US" sz="1600" b="1"/>
              <a:t>career progression</a:t>
            </a:r>
            <a:r>
              <a:rPr lang="en-US" sz="1600"/>
              <a:t>, </a:t>
            </a:r>
            <a:r>
              <a:rPr lang="en-US" sz="1600" b="1"/>
              <a:t>income inequality</a:t>
            </a:r>
            <a:r>
              <a:rPr lang="en-US" sz="1600"/>
              <a:t>, or </a:t>
            </a:r>
            <a:r>
              <a:rPr lang="en-US" sz="1600" b="1"/>
              <a:t>retirement planning trends</a:t>
            </a:r>
            <a:r>
              <a:rPr lang="en-US" sz="1600"/>
              <a:t>.</a:t>
            </a:r>
          </a:p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6201634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FBBA8-1485-4CF6-F5FF-AC7FA7945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80EF7-4515-E1B6-DCC1-DEEE7588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5"/>
            <a:ext cx="11029615" cy="4190807"/>
          </a:xfrm>
        </p:spPr>
        <p:txBody>
          <a:bodyPr>
            <a:normAutofit fontScale="77500" lnSpcReduction="20000"/>
          </a:bodyPr>
          <a:lstStyle/>
          <a:p>
            <a:r>
              <a:rPr lang="en-US"/>
              <a:t>This project showed how shared tools and methods can analyze very different datasets</a:t>
            </a:r>
            <a:br>
              <a:rPr lang="en-US"/>
            </a:br>
            <a:endParaRPr lang="en-US"/>
          </a:p>
          <a:p>
            <a:r>
              <a:rPr lang="en-US"/>
              <a:t>Python allowed us to load data, clean it, merge datasets, calculate new variables, and build visualizations</a:t>
            </a:r>
            <a:br>
              <a:rPr lang="en-US"/>
            </a:br>
            <a:endParaRPr lang="en-US"/>
          </a:p>
          <a:p>
            <a:r>
              <a:rPr lang="en-US"/>
              <a:t>Tableau provided additional visuals for deeper interpretation and clearer comparisons</a:t>
            </a:r>
            <a:br>
              <a:rPr lang="en-US"/>
            </a:br>
            <a:br>
              <a:rPr lang="en-US"/>
            </a:br>
            <a:endParaRPr lang="en-US"/>
          </a:p>
          <a:p>
            <a:r>
              <a:rPr lang="en-US"/>
              <a:t>Despite using different topics, both datasets followed the same process:</a:t>
            </a:r>
            <a:br>
              <a:rPr lang="en-US"/>
            </a:br>
            <a:r>
              <a:rPr lang="en-US" b="1"/>
              <a:t>load → clean → transform → visualize → interpret</a:t>
            </a:r>
            <a:br>
              <a:rPr lang="en-US" b="1"/>
            </a:br>
            <a:br>
              <a:rPr lang="en-US" b="1"/>
            </a:br>
            <a:endParaRPr lang="en-US"/>
          </a:p>
          <a:p>
            <a:r>
              <a:rPr lang="en-US"/>
              <a:t>The six Python plots and two Tableau charts highlighted major trends, relationships, and patterns</a:t>
            </a:r>
            <a:br>
              <a:rPr lang="en-US"/>
            </a:br>
            <a:br>
              <a:rPr lang="en-US"/>
            </a:br>
            <a:endParaRPr lang="en-US"/>
          </a:p>
          <a:p>
            <a:r>
              <a:rPr lang="en-US"/>
              <a:t>Completing this project strengthened our understanding of real-world data workflows</a:t>
            </a:r>
            <a:br>
              <a:rPr lang="en-US"/>
            </a:br>
            <a:br>
              <a:rPr lang="en-US"/>
            </a:br>
            <a:endParaRPr lang="en-US"/>
          </a:p>
          <a:p>
            <a:r>
              <a:rPr lang="en-US"/>
              <a:t>The skills demonstrated—documentation, reproducible code, and visual communication—prepare us for future academic and professional work</a:t>
            </a:r>
          </a:p>
        </p:txBody>
      </p:sp>
    </p:spTree>
    <p:extLst>
      <p:ext uri="{BB962C8B-B14F-4D97-AF65-F5344CB8AC3E}">
        <p14:creationId xmlns:p14="http://schemas.microsoft.com/office/powerpoint/2010/main" val="2200171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1F04F-66C4-A223-D227-445E43D9D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38865-C6EF-5F77-BF27-EF14BB1D6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Centers for Disease Control and Prevention. </a:t>
            </a:r>
            <a:r>
              <a:rPr lang="en-US" i="1"/>
              <a:t>COVID-19 Vaccinations in the United States, County.</a:t>
            </a:r>
            <a:endParaRPr lang="en-US"/>
          </a:p>
          <a:p>
            <a:r>
              <a:rPr lang="en-US"/>
              <a:t>Maryland Open Data Portal. </a:t>
            </a:r>
            <a:r>
              <a:rPr lang="en-US" i="1"/>
              <a:t>MD COVID-19 – Cases by County.</a:t>
            </a:r>
            <a:endParaRPr lang="en-US"/>
          </a:p>
          <a:p>
            <a:r>
              <a:rPr lang="en-US"/>
              <a:t>Somerville, T. (2024). </a:t>
            </a:r>
            <a:r>
              <a:rPr lang="en-US" i="1"/>
              <a:t>Analyzing the Impact of COVID-19 Vaccination Rates on Case Trends in Maryland.</a:t>
            </a:r>
            <a:r>
              <a:rPr lang="en-US"/>
              <a:t> CTEC 128 Data Science Project.</a:t>
            </a:r>
          </a:p>
          <a:p>
            <a:r>
              <a:rPr lang="en-US"/>
              <a:t>U.S. Census Bureau. (2023). </a:t>
            </a:r>
            <a:r>
              <a:rPr lang="en-US" i="1"/>
              <a:t>American Community Survey: Public Use Microdata Sample (PUMS)</a:t>
            </a:r>
            <a:r>
              <a:rPr lang="en-US"/>
              <a:t>. Retrieved from</a:t>
            </a:r>
            <a:r>
              <a:rPr lang="en-US">
                <a:hlinkClick r:id="rId2"/>
              </a:rPr>
              <a:t> </a:t>
            </a:r>
            <a:r>
              <a:rPr lang="en-US" u="sng">
                <a:hlinkClick r:id="rId2"/>
              </a:rPr>
              <a:t>https://www.census.gov/programs-surveys/acs/microdata/access.html</a:t>
            </a:r>
            <a:r>
              <a:rPr lang="en-US">
                <a:hlinkClick r:id="rId3"/>
              </a:rPr>
              <a:t> </a:t>
            </a:r>
            <a:r>
              <a:rPr lang="en-US" u="sng">
                <a:hlinkClick r:id="rId3"/>
              </a:rPr>
              <a:t>Census.gov+1</a:t>
            </a:r>
            <a:endParaRPr lang="en-US"/>
          </a:p>
          <a:p>
            <a:r>
              <a:rPr lang="en-US"/>
              <a:t>U.S. Bureau of Labor Statistics. (2021). </a:t>
            </a:r>
            <a:r>
              <a:rPr lang="en-US" i="1"/>
              <a:t>Labor force characteristics by race and ethnicity</a:t>
            </a:r>
            <a:r>
              <a:rPr lang="en-US"/>
              <a:t> (Table 7 &amp; Table 18). Retrieved from</a:t>
            </a:r>
            <a:r>
              <a:rPr lang="en-US">
                <a:hlinkClick r:id="rId4"/>
              </a:rPr>
              <a:t> </a:t>
            </a:r>
            <a:r>
              <a:rPr lang="en-US" u="sng">
                <a:hlinkClick r:id="rId4"/>
              </a:rPr>
              <a:t>https://www.bls.gov/opub/reports/race-and-ethnicity/2021/home.htm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571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>
            <a:normAutofit/>
          </a:bodyPr>
          <a:lstStyle/>
          <a:p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0336c39-6961-4531-96d0-51c393c76b0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6BD56FC374734F96458E9574280627" ma:contentTypeVersion="14" ma:contentTypeDescription="Create a new document." ma:contentTypeScope="" ma:versionID="52d7bb1df98743abafbab1097758b8dc">
  <xsd:schema xmlns:xsd="http://www.w3.org/2001/XMLSchema" xmlns:xs="http://www.w3.org/2001/XMLSchema" xmlns:p="http://schemas.microsoft.com/office/2006/metadata/properties" xmlns:ns3="40336c39-6961-4531-96d0-51c393c76b06" xmlns:ns4="5802063e-bb7e-4139-b5bd-8d08891f0aeb" targetNamespace="http://schemas.microsoft.com/office/2006/metadata/properties" ma:root="true" ma:fieldsID="2d5e664153404aad248c3450882b472a" ns3:_="" ns4:_="">
    <xsd:import namespace="40336c39-6961-4531-96d0-51c393c76b06"/>
    <xsd:import namespace="5802063e-bb7e-4139-b5bd-8d08891f0ae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336c39-6961-4531-96d0-51c393c76b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02063e-bb7e-4139-b5bd-8d08891f0ae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91575F-4C21-47C4-8D13-EB9BE66B536F}">
  <ds:schemaRefs>
    <ds:schemaRef ds:uri="http://schemas.microsoft.com/office/2006/documentManagement/types"/>
    <ds:schemaRef ds:uri="http://purl.org/dc/terms/"/>
    <ds:schemaRef ds:uri="http://purl.org/dc/elements/1.1/"/>
    <ds:schemaRef ds:uri="5802063e-bb7e-4139-b5bd-8d08891f0aeb"/>
    <ds:schemaRef ds:uri="http://purl.org/dc/dcmitype/"/>
    <ds:schemaRef ds:uri="40336c39-6961-4531-96d0-51c393c76b06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83FBC6-AC18-42DD-8E64-E1CA03360A78}">
  <ds:schemaRefs>
    <ds:schemaRef ds:uri="40336c39-6961-4531-96d0-51c393c76b06"/>
    <ds:schemaRef ds:uri="5802063e-bb7e-4139-b5bd-8d08891f0ae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0</TotalTime>
  <Words>3383</Words>
  <Application>Microsoft Office PowerPoint</Application>
  <PresentationFormat>Widescreen</PresentationFormat>
  <Paragraphs>391</Paragraphs>
  <Slides>34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Calibri</vt:lpstr>
      <vt:lpstr>Consolas</vt:lpstr>
      <vt:lpstr>Courier New</vt:lpstr>
      <vt:lpstr>Gill Sans MT</vt:lpstr>
      <vt:lpstr>Wingdings</vt:lpstr>
      <vt:lpstr>Wingdings 2</vt:lpstr>
      <vt:lpstr>Custom</vt:lpstr>
      <vt:lpstr>Data analysis &amp; Visualization Project</vt:lpstr>
      <vt:lpstr>introduction</vt:lpstr>
      <vt:lpstr>Ctec 128 Paper Summary: Group Leader</vt:lpstr>
      <vt:lpstr>Ctec 298 – course work summary (group leader)</vt:lpstr>
      <vt:lpstr>Orginial Datasets:</vt:lpstr>
      <vt:lpstr>Original dataset 2 (Vaccination data)</vt:lpstr>
      <vt:lpstr>Data Cleaning &amp; Wrangling Overview</vt:lpstr>
      <vt:lpstr>Bar plot: data used</vt:lpstr>
      <vt:lpstr>Bar plot: code &amp; visualization</vt:lpstr>
      <vt:lpstr>Pie Chart: Data &amp; Categories </vt:lpstr>
      <vt:lpstr>Pie Chart: code and visualization</vt:lpstr>
      <vt:lpstr>Histogram: Data Used</vt:lpstr>
      <vt:lpstr>Histogram: code &amp; visualization</vt:lpstr>
      <vt:lpstr>Scatter Plot: Data Used</vt:lpstr>
      <vt:lpstr>Scatter plot: code &amp; visualization</vt:lpstr>
      <vt:lpstr>Stackplot: data used</vt:lpstr>
      <vt:lpstr>Stackplot: code &amp; visualization</vt:lpstr>
      <vt:lpstr>Multiplot: data used</vt:lpstr>
      <vt:lpstr>Multiplot: code &amp; visualization</vt:lpstr>
      <vt:lpstr>Tableau Plot #1: Quarterly COVID-19 Cases (Bar Chart)</vt:lpstr>
      <vt:lpstr>Tableau Plot #2: Daily New Cases by County (Pie Chart)</vt:lpstr>
      <vt:lpstr>CTEC 128 Paper Summary: Member 2</vt:lpstr>
      <vt:lpstr>CTEC 298 Coursework summary (member 2)</vt:lpstr>
      <vt:lpstr>Bar Plot: Code &amp; Visualization </vt:lpstr>
      <vt:lpstr>Pie chart: code &amp; VISUALIZATION </vt:lpstr>
      <vt:lpstr>Histogram: code &amp; VISUALIZATION </vt:lpstr>
      <vt:lpstr>Scatter plot: code &amp; VISUALIZATION </vt:lpstr>
      <vt:lpstr>Stack plot: code &amp; VISUALIZATION </vt:lpstr>
      <vt:lpstr>multiplot: code &amp; VISUALIZATION </vt:lpstr>
      <vt:lpstr>Tableau Plot 1 ( Bar chart)</vt:lpstr>
      <vt:lpstr>Tableau plot 2 ( Scatter Plot with Cure)</vt:lpstr>
      <vt:lpstr>conclusion</vt:lpstr>
      <vt:lpstr>References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Torrodjae D Somerville</dc:creator>
  <cp:lastModifiedBy>Theresha Miller</cp:lastModifiedBy>
  <cp:revision>1</cp:revision>
  <dcterms:created xsi:type="dcterms:W3CDTF">2025-12-02T04:00:29Z</dcterms:created>
  <dcterms:modified xsi:type="dcterms:W3CDTF">2025-12-02T22:56:16Z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0x010100B76BD56FC374734F96458E9574280627</vt:lpwstr>
  </property>
</Properties>
</file>